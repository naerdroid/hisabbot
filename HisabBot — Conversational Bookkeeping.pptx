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6" r:id="rId7"/>
    <p:sldId id="261" r:id="rId8"/>
    <p:sldId id="262" r:id="rId9"/>
    <p:sldId id="263" r:id="rId10"/>
    <p:sldId id="264" r:id="rId11"/>
    <p:sldId id="265" r:id="rId12"/>
  </p:sldIdLst>
  <p:sldSz cx="12192000" cy="6858000"/>
  <p:notesSz cx="6858000" cy="12192000"/>
  <p:embeddedFontLst>
    <p:embeddedFont>
      <p:font typeface="Poppins" panose="020B0604020202020204" charset="0"/>
      <p:regular r:id="rId14"/>
      <p:bold r:id="rId15"/>
    </p:embeddedFont>
    <p:embeddedFont>
      <p:font typeface="Calibri" panose="020F0502020204030204" pitchFamily="34" charset="0"/>
      <p:regular r:id="rId16"/>
      <p:bold r:id="rId17"/>
      <p:italic r:id="rId18"/>
      <p:boldItalic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39" d="100"/>
          <a:sy n="39" d="100"/>
        </p:scale>
        <p:origin x="60" y="6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7681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74927"/>
          </a:xfrm>
          <a:prstGeom prst="rect">
            <a:avLst/>
          </a:prstGeom>
          <a:noFill/>
          <a:ln/>
        </p:spPr>
        <p:txBody>
          <a:bodyPr wrap="square" lIns="0" tIns="0" rIns="0" bIns="0" rtlCol="0" anchor="t"/>
          <a:lstStyle>
            <a:lvl1pPr marL="0" indent="0" algn="l">
              <a:lnSpc>
                <a:spcPct val="115000"/>
              </a:lnSpc>
              <a:buNone/>
              <a:defRPr lang="en-US" sz="3400" dirty="0">
                <a:solidFill>
                  <a:srgbClr val="12202F"/>
                </a:solidFill>
                <a:latin typeface="Poppins" pitchFamily="34" charset="0"/>
                <a:ea typeface="Poppins" pitchFamily="34" charset="-122"/>
                <a:cs typeface="Poppins"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592527"/>
            <a:ext cx="10566400" cy="4452673"/>
          </a:xfrm>
          <a:prstGeom prst="rect">
            <a:avLst/>
          </a:prstGeom>
          <a:noFill/>
          <a:ln/>
        </p:spPr>
        <p:txBody>
          <a:bodyPr wrap="square" lIns="0" tIns="0" rIns="0" bIns="0" rtlCol="0" anchor="t"/>
          <a:lstStyle>
            <a:lvl1pPr marL="0" indent="0" algn="l">
              <a:lnSpc>
                <a:spcPct val="140000"/>
              </a:lnSpc>
              <a:buNone/>
              <a:defRPr lang="en-US" sz="1600" dirty="0">
                <a:solidFill>
                  <a:srgbClr val="12202F"/>
                </a:solidFill>
                <a:latin typeface="Poppins" pitchFamily="34" charset="0"/>
                <a:ea typeface="Poppins" pitchFamily="34" charset="-122"/>
                <a:cs typeface="Poppi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74927"/>
          </a:xfrm>
          <a:prstGeom prst="rect">
            <a:avLst/>
          </a:prstGeom>
          <a:noFill/>
          <a:ln/>
        </p:spPr>
        <p:txBody>
          <a:bodyPr wrap="square" lIns="0" tIns="0" rIns="0" bIns="0" rtlCol="0" anchor="t"/>
          <a:lstStyle>
            <a:lvl1pPr marL="0" indent="0" algn="l">
              <a:lnSpc>
                <a:spcPct val="115000"/>
              </a:lnSpc>
              <a:buNone/>
              <a:defRPr lang="en-US" sz="3400" dirty="0">
                <a:solidFill>
                  <a:srgbClr val="12202F"/>
                </a:solidFill>
                <a:latin typeface="Poppins" pitchFamily="34" charset="0"/>
                <a:ea typeface="Poppins" pitchFamily="34" charset="-122"/>
                <a:cs typeface="Poppins"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592527"/>
            <a:ext cx="10566400" cy="4452673"/>
          </a:xfrm>
          <a:prstGeom prst="rect">
            <a:avLst/>
          </a:prstGeom>
          <a:noFill/>
          <a:ln/>
        </p:spPr>
        <p:txBody>
          <a:bodyPr wrap="square" lIns="0" tIns="0" rIns="0" bIns="0" rtlCol="0" anchor="t"/>
          <a:lstStyle>
            <a:lvl1pPr marL="0" indent="0" algn="l">
              <a:lnSpc>
                <a:spcPct val="140000"/>
              </a:lnSpc>
              <a:buNone/>
              <a:defRPr lang="en-US" sz="1600" dirty="0">
                <a:solidFill>
                  <a:srgbClr val="12202F"/>
                </a:solidFill>
                <a:latin typeface="Poppins" pitchFamily="34" charset="0"/>
                <a:ea typeface="Poppins" pitchFamily="34" charset="-122"/>
                <a:cs typeface="Poppi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2142464"/>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2B544"/>
                </a:solidFill>
                <a:latin typeface="Poppins" pitchFamily="34" charset="0"/>
                <a:ea typeface="Poppins" pitchFamily="34" charset="-122"/>
                <a:cs typeface="Poppins" pitchFamily="34" charset="-120"/>
              </a:rPr>
              <a:t>AI-POWERED BOOKKEEPING</a:t>
            </a:r>
            <a:endParaRPr lang="en-US" sz="1500" dirty="0"/>
          </a:p>
        </p:txBody>
      </p:sp>
      <p:sp>
        <p:nvSpPr>
          <p:cNvPr id="3" name="Text 1"/>
          <p:cNvSpPr>
            <a:spLocks noGrp="1"/>
          </p:cNvSpPr>
          <p:nvPr>
            <p:ph type="title"/>
          </p:nvPr>
        </p:nvSpPr>
        <p:spPr>
          <a:xfrm>
            <a:off x="812800" y="2586964"/>
            <a:ext cx="10883392" cy="1104900"/>
          </a:xfrm>
          <a:prstGeom prst="rect">
            <a:avLst/>
          </a:prstGeom>
          <a:noFill/>
          <a:ln/>
        </p:spPr>
        <p:txBody>
          <a:bodyPr wrap="square" lIns="0" tIns="0" rIns="0" bIns="0" rtlCol="0" anchor="t">
            <a:normAutofit/>
          </a:bodyPr>
          <a:lstStyle/>
          <a:p>
            <a:pPr marL="0" indent="0" algn="l">
              <a:lnSpc>
                <a:spcPts val="8500"/>
              </a:lnSpc>
              <a:buNone/>
            </a:pPr>
            <a:r>
              <a:rPr lang="en-US" sz="8500" b="1" i="0" dirty="0">
                <a:solidFill>
                  <a:srgbClr val="F4F1EA"/>
                </a:solidFill>
                <a:latin typeface="Poppins" pitchFamily="34" charset="0"/>
                <a:ea typeface="Poppins" pitchFamily="34" charset="-122"/>
                <a:cs typeface="Poppins" pitchFamily="34" charset="-120"/>
              </a:rPr>
              <a:t>Hisab</a:t>
            </a:r>
            <a:r>
              <a:rPr lang="en-US" sz="8500" b="1" i="0" dirty="0">
                <a:solidFill>
                  <a:srgbClr val="14B8A6"/>
                </a:solidFill>
                <a:latin typeface="Poppins" pitchFamily="34" charset="0"/>
                <a:ea typeface="Poppins" pitchFamily="34" charset="-122"/>
                <a:cs typeface="Poppins" pitchFamily="34" charset="-120"/>
              </a:rPr>
              <a:t>Bot</a:t>
            </a:r>
            <a:endParaRPr lang="en-US" sz="8500" dirty="0"/>
          </a:p>
        </p:txBody>
      </p:sp>
      <p:sp>
        <p:nvSpPr>
          <p:cNvPr id="4" name="Text 2"/>
          <p:cNvSpPr/>
          <p:nvPr/>
        </p:nvSpPr>
        <p:spPr>
          <a:xfrm>
            <a:off x="812800" y="3844264"/>
            <a:ext cx="10883392" cy="452107"/>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F4F1EA"/>
                </a:solidFill>
                <a:latin typeface="Poppins" pitchFamily="34" charset="0"/>
                <a:ea typeface="Poppins" pitchFamily="34" charset="-122"/>
                <a:cs typeface="Poppins" pitchFamily="34" charset="-120"/>
              </a:rPr>
              <a:t>Everyday accounting, through conversation</a:t>
            </a:r>
            <a:endParaRPr lang="en-US" sz="2800" dirty="0"/>
          </a:p>
        </p:txBody>
      </p:sp>
      <p:sp>
        <p:nvSpPr>
          <p:cNvPr id="5" name="Text 3"/>
          <p:cNvSpPr/>
          <p:nvPr/>
        </p:nvSpPr>
        <p:spPr>
          <a:xfrm>
            <a:off x="812800" y="444877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FB0C3"/>
                </a:solidFill>
                <a:latin typeface="Poppins" pitchFamily="34" charset="0"/>
                <a:ea typeface="Poppins" pitchFamily="34" charset="-122"/>
                <a:cs typeface="Poppins" pitchFamily="34" charset="-120"/>
              </a:rPr>
              <a:t>React + Express · Local Qwen AI · SQLite · Voice input</a:t>
            </a:r>
            <a:endParaRPr lang="en-US" sz="1500" dirty="0"/>
          </a:p>
        </p:txBody>
      </p:sp>
      <p:sp>
        <p:nvSpPr>
          <p:cNvPr id="6" name="Text 4"/>
          <p:cNvSpPr/>
          <p:nvPr/>
        </p:nvSpPr>
        <p:spPr>
          <a:xfrm>
            <a:off x="812800" y="6220487"/>
            <a:ext cx="739568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FB0C3"/>
                </a:solidFill>
                <a:latin typeface="Poppins" pitchFamily="34" charset="0"/>
                <a:ea typeface="Poppins" pitchFamily="34" charset="-122"/>
                <a:cs typeface="Poppins" pitchFamily="34" charset="-120"/>
              </a:rPr>
              <a:t>Alibaba Cloud AI Hackathon Pakistan 2026 · Noor e Sehr Ali &amp; Mirha Shakeel</a:t>
            </a:r>
            <a:endParaRPr lang="en-US" sz="13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0327"/>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202F"/>
                </a:solidFill>
                <a:latin typeface="Poppins" pitchFamily="34" charset="0"/>
                <a:ea typeface="Poppins" pitchFamily="34" charset="-122"/>
                <a:cs typeface="Poppins" pitchFamily="34" charset="-120"/>
              </a:rPr>
              <a:t>The Problem</a:t>
            </a:r>
            <a:endParaRPr lang="en-US" sz="3400" dirty="0"/>
          </a:p>
        </p:txBody>
      </p:sp>
      <p:sp>
        <p:nvSpPr>
          <p:cNvPr id="3" name="Shape 1"/>
          <p:cNvSpPr/>
          <p:nvPr/>
        </p:nvSpPr>
        <p:spPr>
          <a:xfrm>
            <a:off x="812800" y="1567128"/>
            <a:ext cx="3403600" cy="1338461"/>
          </a:xfrm>
          <a:prstGeom prst="roundRect">
            <a:avLst>
              <a:gd name="adj" fmla="val 9489"/>
            </a:avLst>
          </a:prstGeom>
          <a:solidFill>
            <a:srgbClr val="FFFFFF"/>
          </a:solidFill>
          <a:ln/>
        </p:spPr>
      </p:sp>
      <p:sp>
        <p:nvSpPr>
          <p:cNvPr id="4" name="Shape 2"/>
          <p:cNvSpPr/>
          <p:nvPr/>
        </p:nvSpPr>
        <p:spPr>
          <a:xfrm>
            <a:off x="812800" y="1567128"/>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14B8A6"/>
          </a:solidFill>
          <a:ln/>
        </p:spPr>
      </p:sp>
      <p:sp>
        <p:nvSpPr>
          <p:cNvPr id="5" name="Text 3"/>
          <p:cNvSpPr/>
          <p:nvPr/>
        </p:nvSpPr>
        <p:spPr>
          <a:xfrm>
            <a:off x="1041400" y="1846528"/>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Slow daily entry</a:t>
            </a:r>
            <a:endParaRPr lang="en-US" sz="1800" dirty="0"/>
          </a:p>
        </p:txBody>
      </p:sp>
      <p:sp>
        <p:nvSpPr>
          <p:cNvPr id="6" name="Text 4"/>
          <p:cNvSpPr/>
          <p:nvPr/>
        </p:nvSpPr>
        <p:spPr>
          <a:xfrm>
            <a:off x="1041400" y="2197034"/>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Small businesses record sales and expenses all day long.</a:t>
            </a:r>
            <a:endParaRPr lang="en-US" sz="1400" dirty="0"/>
          </a:p>
        </p:txBody>
      </p:sp>
      <p:sp>
        <p:nvSpPr>
          <p:cNvPr id="7" name="Shape 5"/>
          <p:cNvSpPr/>
          <p:nvPr/>
        </p:nvSpPr>
        <p:spPr>
          <a:xfrm>
            <a:off x="4394200" y="1567128"/>
            <a:ext cx="3403600" cy="1338461"/>
          </a:xfrm>
          <a:prstGeom prst="roundRect">
            <a:avLst>
              <a:gd name="adj" fmla="val 9489"/>
            </a:avLst>
          </a:prstGeom>
          <a:solidFill>
            <a:srgbClr val="FFFFFF"/>
          </a:solidFill>
          <a:ln/>
        </p:spPr>
      </p:sp>
      <p:sp>
        <p:nvSpPr>
          <p:cNvPr id="8" name="Shape 6"/>
          <p:cNvSpPr/>
          <p:nvPr/>
        </p:nvSpPr>
        <p:spPr>
          <a:xfrm>
            <a:off x="4394200" y="1567128"/>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14B8A6"/>
          </a:solidFill>
          <a:ln/>
        </p:spPr>
      </p:sp>
      <p:sp>
        <p:nvSpPr>
          <p:cNvPr id="9" name="Text 7"/>
          <p:cNvSpPr/>
          <p:nvPr/>
        </p:nvSpPr>
        <p:spPr>
          <a:xfrm>
            <a:off x="4622800" y="1846528"/>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Hard-to-track totals</a:t>
            </a:r>
            <a:endParaRPr lang="en-US" sz="1800" dirty="0"/>
          </a:p>
        </p:txBody>
      </p:sp>
      <p:sp>
        <p:nvSpPr>
          <p:cNvPr id="10" name="Text 8"/>
          <p:cNvSpPr/>
          <p:nvPr/>
        </p:nvSpPr>
        <p:spPr>
          <a:xfrm>
            <a:off x="4622800" y="2197034"/>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Owners need income, expenses and profit at a glance.</a:t>
            </a:r>
            <a:endParaRPr lang="en-US" sz="1400" dirty="0"/>
          </a:p>
        </p:txBody>
      </p:sp>
      <p:sp>
        <p:nvSpPr>
          <p:cNvPr id="11" name="Shape 9"/>
          <p:cNvSpPr/>
          <p:nvPr/>
        </p:nvSpPr>
        <p:spPr>
          <a:xfrm>
            <a:off x="7975600" y="1567128"/>
            <a:ext cx="3403600" cy="1338461"/>
          </a:xfrm>
          <a:prstGeom prst="roundRect">
            <a:avLst>
              <a:gd name="adj" fmla="val 9489"/>
            </a:avLst>
          </a:prstGeom>
          <a:solidFill>
            <a:srgbClr val="FFFFFF"/>
          </a:solidFill>
          <a:ln/>
        </p:spPr>
      </p:sp>
      <p:sp>
        <p:nvSpPr>
          <p:cNvPr id="12" name="Shape 10"/>
          <p:cNvSpPr/>
          <p:nvPr/>
        </p:nvSpPr>
        <p:spPr>
          <a:xfrm>
            <a:off x="7975600" y="1567128"/>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14B8A6"/>
          </a:solidFill>
          <a:ln/>
        </p:spPr>
      </p:sp>
      <p:sp>
        <p:nvSpPr>
          <p:cNvPr id="13" name="Text 11"/>
          <p:cNvSpPr/>
          <p:nvPr/>
        </p:nvSpPr>
        <p:spPr>
          <a:xfrm>
            <a:off x="8204200" y="1846528"/>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Cumbersome forms</a:t>
            </a:r>
            <a:endParaRPr lang="en-US" sz="1800" dirty="0"/>
          </a:p>
        </p:txBody>
      </p:sp>
      <p:sp>
        <p:nvSpPr>
          <p:cNvPr id="14" name="Text 12"/>
          <p:cNvSpPr/>
          <p:nvPr/>
        </p:nvSpPr>
        <p:spPr>
          <a:xfrm>
            <a:off x="8204200" y="2197034"/>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Multi-field forms slow down quick, everyday entries.</a:t>
            </a:r>
            <a:endParaRPr lang="en-US" sz="1400" dirty="0"/>
          </a:p>
        </p:txBody>
      </p:sp>
      <p:sp>
        <p:nvSpPr>
          <p:cNvPr id="15" name="Shape 13"/>
          <p:cNvSpPr/>
          <p:nvPr/>
        </p:nvSpPr>
        <p:spPr>
          <a:xfrm>
            <a:off x="812800" y="3184989"/>
            <a:ext cx="10566400" cy="1366441"/>
          </a:xfrm>
          <a:prstGeom prst="roundRect">
            <a:avLst>
              <a:gd name="adj" fmla="val 9294"/>
            </a:avLst>
          </a:prstGeom>
          <a:solidFill>
            <a:srgbClr val="0F1B2D"/>
          </a:solidFill>
          <a:ln/>
        </p:spPr>
      </p:sp>
      <p:sp>
        <p:nvSpPr>
          <p:cNvPr id="16" name="Shape 14"/>
          <p:cNvSpPr/>
          <p:nvPr/>
        </p:nvSpPr>
        <p:spPr>
          <a:xfrm>
            <a:off x="812800" y="3184989"/>
            <a:ext cx="10566400" cy="1366441"/>
          </a:xfrm>
          <a:custGeom>
            <a:avLst/>
            <a:gdLst/>
            <a:ahLst/>
            <a:cxnLst/>
            <a:rect l="l" t="t" r="r" b="b"/>
            <a:pathLst>
              <a:path w="10566400" h="1366441">
                <a:moveTo>
                  <a:pt x="127000" y="1366441"/>
                </a:moveTo>
                <a:lnTo>
                  <a:pt x="127000" y="1366441"/>
                </a:lnTo>
                <a:arcTo wR="127000" hR="127000" stAng="5400000" swAng="5400000"/>
                <a:lnTo>
                  <a:pt x="0" y="127000"/>
                </a:lnTo>
                <a:arcTo wR="127000" hR="127000" stAng="10800000" swAng="5400000"/>
                <a:lnTo>
                  <a:pt x="127000" y="0"/>
                </a:lnTo>
                <a:arcTo wR="50800" hR="127000" stAng="16200000" swAng="-5400000"/>
                <a:lnTo>
                  <a:pt x="76200" y="1239441"/>
                </a:lnTo>
                <a:arcTo wR="50800" hR="127000" stAng="10800000" swAng="-5400000"/>
                <a:close/>
              </a:path>
            </a:pathLst>
          </a:custGeom>
          <a:solidFill>
            <a:srgbClr val="F2B544"/>
          </a:solidFill>
          <a:ln/>
        </p:spPr>
      </p:sp>
      <p:sp>
        <p:nvSpPr>
          <p:cNvPr id="17" name="Text 15"/>
          <p:cNvSpPr/>
          <p:nvPr/>
        </p:nvSpPr>
        <p:spPr>
          <a:xfrm>
            <a:off x="1193800" y="3438989"/>
            <a:ext cx="1017701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B544"/>
                </a:solidFill>
                <a:latin typeface="Poppins" pitchFamily="34" charset="0"/>
                <a:ea typeface="Poppins" pitchFamily="34" charset="-122"/>
                <a:cs typeface="Poppins" pitchFamily="34" charset="-120"/>
              </a:rPr>
              <a:t>OUR GOAL</a:t>
            </a:r>
            <a:endParaRPr lang="en-US" sz="1300" dirty="0"/>
          </a:p>
        </p:txBody>
      </p:sp>
      <p:sp>
        <p:nvSpPr>
          <p:cNvPr id="18" name="Text 16"/>
          <p:cNvSpPr/>
          <p:nvPr/>
        </p:nvSpPr>
        <p:spPr>
          <a:xfrm>
            <a:off x="1193800" y="3670102"/>
            <a:ext cx="10177018" cy="652727"/>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F4F1EA"/>
                </a:solidFill>
                <a:latin typeface="Poppins" pitchFamily="34" charset="0"/>
                <a:ea typeface="Poppins" pitchFamily="34" charset="-122"/>
                <a:cs typeface="Poppins" pitchFamily="34" charset="-120"/>
              </a:rPr>
              <a:t>Record, correct and review transactions through chat, voice and a visual dashboard.</a:t>
            </a:r>
            <a:endParaRPr lang="en-US" sz="1900" dirty="0"/>
          </a:p>
        </p:txBody>
      </p:sp>
      <p:sp>
        <p:nvSpPr>
          <p:cNvPr id="19" name="Text 17"/>
          <p:cNvSpPr/>
          <p:nvPr/>
        </p:nvSpPr>
        <p:spPr>
          <a:xfrm>
            <a:off x="812800" y="6238280"/>
            <a:ext cx="11664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773"/>
                </a:solidFill>
                <a:latin typeface="Poppins" pitchFamily="34" charset="0"/>
                <a:ea typeface="Poppins" pitchFamily="34" charset="-122"/>
                <a:cs typeface="Poppins" pitchFamily="34" charset="-120"/>
              </a:rPr>
              <a:t>HisabBot · 02</a:t>
            </a:r>
            <a:endParaRPr 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0327"/>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202F"/>
                </a:solidFill>
                <a:latin typeface="Poppins" pitchFamily="34" charset="0"/>
                <a:ea typeface="Poppins" pitchFamily="34" charset="-122"/>
                <a:cs typeface="Poppins" pitchFamily="34" charset="-120"/>
              </a:rPr>
              <a:t>Key Features</a:t>
            </a:r>
            <a:endParaRPr lang="en-US" sz="3400" dirty="0"/>
          </a:p>
        </p:txBody>
      </p:sp>
      <p:sp>
        <p:nvSpPr>
          <p:cNvPr id="3" name="Shape 1"/>
          <p:cNvSpPr/>
          <p:nvPr/>
        </p:nvSpPr>
        <p:spPr>
          <a:xfrm>
            <a:off x="812800" y="1567128"/>
            <a:ext cx="3403600" cy="1338461"/>
          </a:xfrm>
          <a:prstGeom prst="roundRect">
            <a:avLst>
              <a:gd name="adj" fmla="val 9489"/>
            </a:avLst>
          </a:prstGeom>
          <a:solidFill>
            <a:srgbClr val="FFFFFF"/>
          </a:solidFill>
          <a:ln/>
        </p:spPr>
      </p:sp>
      <p:sp>
        <p:nvSpPr>
          <p:cNvPr id="4" name="Shape 2"/>
          <p:cNvSpPr/>
          <p:nvPr/>
        </p:nvSpPr>
        <p:spPr>
          <a:xfrm>
            <a:off x="812800" y="1567128"/>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14B8A6"/>
          </a:solidFill>
          <a:ln/>
        </p:spPr>
      </p:sp>
      <p:sp>
        <p:nvSpPr>
          <p:cNvPr id="5" name="Text 3"/>
          <p:cNvSpPr/>
          <p:nvPr/>
        </p:nvSpPr>
        <p:spPr>
          <a:xfrm>
            <a:off x="1041400" y="1846528"/>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AI chat</a:t>
            </a:r>
            <a:endParaRPr lang="en-US" sz="1800" dirty="0"/>
          </a:p>
        </p:txBody>
      </p:sp>
      <p:sp>
        <p:nvSpPr>
          <p:cNvPr id="6" name="Text 4"/>
          <p:cNvSpPr/>
          <p:nvPr/>
        </p:nvSpPr>
        <p:spPr>
          <a:xfrm>
            <a:off x="1041400" y="2197035"/>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English, Urdu and Roman Urdu requests</a:t>
            </a:r>
            <a:endParaRPr lang="en-US" sz="1400" dirty="0"/>
          </a:p>
        </p:txBody>
      </p:sp>
      <p:sp>
        <p:nvSpPr>
          <p:cNvPr id="7" name="Shape 5"/>
          <p:cNvSpPr/>
          <p:nvPr/>
        </p:nvSpPr>
        <p:spPr>
          <a:xfrm>
            <a:off x="4394200" y="1567128"/>
            <a:ext cx="3403600" cy="1338461"/>
          </a:xfrm>
          <a:prstGeom prst="roundRect">
            <a:avLst>
              <a:gd name="adj" fmla="val 9489"/>
            </a:avLst>
          </a:prstGeom>
          <a:solidFill>
            <a:srgbClr val="FFFFFF"/>
          </a:solidFill>
          <a:ln/>
        </p:spPr>
      </p:sp>
      <p:sp>
        <p:nvSpPr>
          <p:cNvPr id="8" name="Shape 6"/>
          <p:cNvSpPr/>
          <p:nvPr/>
        </p:nvSpPr>
        <p:spPr>
          <a:xfrm>
            <a:off x="4394200" y="1567128"/>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14B8A6"/>
          </a:solidFill>
          <a:ln/>
        </p:spPr>
      </p:sp>
      <p:sp>
        <p:nvSpPr>
          <p:cNvPr id="9" name="Text 7"/>
          <p:cNvSpPr/>
          <p:nvPr/>
        </p:nvSpPr>
        <p:spPr>
          <a:xfrm>
            <a:off x="4622800" y="1846528"/>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Voice input</a:t>
            </a:r>
            <a:endParaRPr lang="en-US" sz="1800" dirty="0"/>
          </a:p>
        </p:txBody>
      </p:sp>
      <p:sp>
        <p:nvSpPr>
          <p:cNvPr id="10" name="Text 8"/>
          <p:cNvSpPr/>
          <p:nvPr/>
        </p:nvSpPr>
        <p:spPr>
          <a:xfrm>
            <a:off x="4622800" y="2197035"/>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Browser recording with local Whisper.cpp transcription</a:t>
            </a:r>
            <a:endParaRPr lang="en-US" sz="1400" dirty="0"/>
          </a:p>
        </p:txBody>
      </p:sp>
      <p:sp>
        <p:nvSpPr>
          <p:cNvPr id="11" name="Shape 9"/>
          <p:cNvSpPr/>
          <p:nvPr/>
        </p:nvSpPr>
        <p:spPr>
          <a:xfrm>
            <a:off x="7975600" y="1567128"/>
            <a:ext cx="3403600" cy="1338461"/>
          </a:xfrm>
          <a:prstGeom prst="roundRect">
            <a:avLst>
              <a:gd name="adj" fmla="val 9489"/>
            </a:avLst>
          </a:prstGeom>
          <a:solidFill>
            <a:srgbClr val="FFFFFF"/>
          </a:solidFill>
          <a:ln/>
        </p:spPr>
      </p:sp>
      <p:sp>
        <p:nvSpPr>
          <p:cNvPr id="12" name="Shape 10"/>
          <p:cNvSpPr/>
          <p:nvPr/>
        </p:nvSpPr>
        <p:spPr>
          <a:xfrm>
            <a:off x="7975600" y="1567128"/>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14B8A6"/>
          </a:solidFill>
          <a:ln/>
        </p:spPr>
      </p:sp>
      <p:sp>
        <p:nvSpPr>
          <p:cNvPr id="13" name="Text 11"/>
          <p:cNvSpPr/>
          <p:nvPr/>
        </p:nvSpPr>
        <p:spPr>
          <a:xfrm>
            <a:off x="8204200" y="1846528"/>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Transaction CRUD</a:t>
            </a:r>
            <a:endParaRPr lang="en-US" sz="1800" dirty="0"/>
          </a:p>
        </p:txBody>
      </p:sp>
      <p:sp>
        <p:nvSpPr>
          <p:cNvPr id="14" name="Text 12"/>
          <p:cNvSpPr/>
          <p:nvPr/>
        </p:nvSpPr>
        <p:spPr>
          <a:xfrm>
            <a:off x="8204200" y="2197035"/>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Create, view, update and delete income or expenses</a:t>
            </a:r>
            <a:endParaRPr lang="en-US" sz="1400" dirty="0"/>
          </a:p>
        </p:txBody>
      </p:sp>
      <p:sp>
        <p:nvSpPr>
          <p:cNvPr id="15" name="Shape 13"/>
          <p:cNvSpPr/>
          <p:nvPr/>
        </p:nvSpPr>
        <p:spPr>
          <a:xfrm>
            <a:off x="812800" y="3083389"/>
            <a:ext cx="3403600" cy="1338461"/>
          </a:xfrm>
          <a:prstGeom prst="roundRect">
            <a:avLst>
              <a:gd name="adj" fmla="val 9489"/>
            </a:avLst>
          </a:prstGeom>
          <a:solidFill>
            <a:srgbClr val="FFFFFF"/>
          </a:solidFill>
          <a:ln/>
        </p:spPr>
      </p:sp>
      <p:sp>
        <p:nvSpPr>
          <p:cNvPr id="16" name="Shape 14"/>
          <p:cNvSpPr/>
          <p:nvPr/>
        </p:nvSpPr>
        <p:spPr>
          <a:xfrm>
            <a:off x="812800" y="3083389"/>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14B8A6"/>
          </a:solidFill>
          <a:ln/>
        </p:spPr>
      </p:sp>
      <p:sp>
        <p:nvSpPr>
          <p:cNvPr id="17" name="Text 15"/>
          <p:cNvSpPr/>
          <p:nvPr/>
        </p:nvSpPr>
        <p:spPr>
          <a:xfrm>
            <a:off x="1041400" y="3362789"/>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Dashboard</a:t>
            </a:r>
            <a:endParaRPr lang="en-US" sz="1800" dirty="0"/>
          </a:p>
        </p:txBody>
      </p:sp>
      <p:sp>
        <p:nvSpPr>
          <p:cNvPr id="18" name="Text 16"/>
          <p:cNvSpPr/>
          <p:nvPr/>
        </p:nvSpPr>
        <p:spPr>
          <a:xfrm>
            <a:off x="1041400" y="3713296"/>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Income, expenses, net profit, today and trends</a:t>
            </a:r>
            <a:endParaRPr lang="en-US" sz="1400" dirty="0"/>
          </a:p>
        </p:txBody>
      </p:sp>
      <p:sp>
        <p:nvSpPr>
          <p:cNvPr id="19" name="Shape 17"/>
          <p:cNvSpPr/>
          <p:nvPr/>
        </p:nvSpPr>
        <p:spPr>
          <a:xfrm>
            <a:off x="4394200" y="3083389"/>
            <a:ext cx="3403600" cy="1338461"/>
          </a:xfrm>
          <a:prstGeom prst="roundRect">
            <a:avLst>
              <a:gd name="adj" fmla="val 9489"/>
            </a:avLst>
          </a:prstGeom>
          <a:solidFill>
            <a:srgbClr val="FFFFFF"/>
          </a:solidFill>
          <a:ln/>
        </p:spPr>
      </p:sp>
      <p:sp>
        <p:nvSpPr>
          <p:cNvPr id="20" name="Shape 18"/>
          <p:cNvSpPr/>
          <p:nvPr/>
        </p:nvSpPr>
        <p:spPr>
          <a:xfrm>
            <a:off x="4394200" y="3083389"/>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14B8A6"/>
          </a:solidFill>
          <a:ln/>
        </p:spPr>
      </p:sp>
      <p:sp>
        <p:nvSpPr>
          <p:cNvPr id="21" name="Text 19"/>
          <p:cNvSpPr/>
          <p:nvPr/>
        </p:nvSpPr>
        <p:spPr>
          <a:xfrm>
            <a:off x="4622800" y="3362789"/>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Search &amp; filters</a:t>
            </a:r>
            <a:endParaRPr lang="en-US" sz="1800" dirty="0"/>
          </a:p>
        </p:txBody>
      </p:sp>
      <p:sp>
        <p:nvSpPr>
          <p:cNvPr id="22" name="Text 20"/>
          <p:cNvSpPr/>
          <p:nvPr/>
        </p:nvSpPr>
        <p:spPr>
          <a:xfrm>
            <a:off x="4622800" y="3713296"/>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Keyword, type and date filters, sorting, pagination</a:t>
            </a:r>
            <a:endParaRPr lang="en-US" sz="1400" dirty="0"/>
          </a:p>
        </p:txBody>
      </p:sp>
      <p:sp>
        <p:nvSpPr>
          <p:cNvPr id="23" name="Shape 21"/>
          <p:cNvSpPr/>
          <p:nvPr/>
        </p:nvSpPr>
        <p:spPr>
          <a:xfrm>
            <a:off x="7975600" y="3083389"/>
            <a:ext cx="3403600" cy="1338461"/>
          </a:xfrm>
          <a:prstGeom prst="roundRect">
            <a:avLst>
              <a:gd name="adj" fmla="val 9489"/>
            </a:avLst>
          </a:prstGeom>
          <a:solidFill>
            <a:srgbClr val="FFFFFF"/>
          </a:solidFill>
          <a:ln/>
        </p:spPr>
      </p:sp>
      <p:sp>
        <p:nvSpPr>
          <p:cNvPr id="24" name="Shape 22"/>
          <p:cNvSpPr/>
          <p:nvPr/>
        </p:nvSpPr>
        <p:spPr>
          <a:xfrm>
            <a:off x="7975600" y="3083389"/>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14B8A6"/>
          </a:solidFill>
          <a:ln/>
        </p:spPr>
      </p:sp>
      <p:sp>
        <p:nvSpPr>
          <p:cNvPr id="25" name="Text 23"/>
          <p:cNvSpPr/>
          <p:nvPr/>
        </p:nvSpPr>
        <p:spPr>
          <a:xfrm>
            <a:off x="8204200" y="3362789"/>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Reports</a:t>
            </a:r>
            <a:endParaRPr lang="en-US" sz="1800" dirty="0"/>
          </a:p>
        </p:txBody>
      </p:sp>
      <p:sp>
        <p:nvSpPr>
          <p:cNvPr id="26" name="Text 24"/>
          <p:cNvSpPr/>
          <p:nvPr/>
        </p:nvSpPr>
        <p:spPr>
          <a:xfrm>
            <a:off x="8204200" y="3713296"/>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Date-range summaries, daily trends, item breakdowns</a:t>
            </a:r>
            <a:endParaRPr lang="en-US" sz="1400" dirty="0"/>
          </a:p>
        </p:txBody>
      </p:sp>
      <p:sp>
        <p:nvSpPr>
          <p:cNvPr id="27" name="Text 25"/>
          <p:cNvSpPr/>
          <p:nvPr/>
        </p:nvSpPr>
        <p:spPr>
          <a:xfrm>
            <a:off x="812800" y="6238280"/>
            <a:ext cx="11690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773"/>
                </a:solidFill>
                <a:latin typeface="Poppins" pitchFamily="34" charset="0"/>
                <a:ea typeface="Poppins" pitchFamily="34" charset="-122"/>
                <a:cs typeface="Poppins" pitchFamily="34" charset="-120"/>
              </a:rPr>
              <a:t>HisabBot · 03</a:t>
            </a:r>
            <a:endParaRPr lang="en-US" sz="1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0327"/>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F4F1EA"/>
                </a:solidFill>
                <a:latin typeface="Poppins" pitchFamily="34" charset="0"/>
                <a:ea typeface="Poppins" pitchFamily="34" charset="-122"/>
                <a:cs typeface="Poppins" pitchFamily="34" charset="-120"/>
              </a:rPr>
              <a:t>Chat + Voice</a:t>
            </a:r>
            <a:endParaRPr lang="en-US" sz="3400" dirty="0"/>
          </a:p>
        </p:txBody>
      </p:sp>
      <p:sp>
        <p:nvSpPr>
          <p:cNvPr id="3" name="Shape 1"/>
          <p:cNvSpPr/>
          <p:nvPr/>
        </p:nvSpPr>
        <p:spPr>
          <a:xfrm>
            <a:off x="812800" y="1567128"/>
            <a:ext cx="5422900" cy="3549452"/>
          </a:xfrm>
          <a:prstGeom prst="roundRect">
            <a:avLst>
              <a:gd name="adj" fmla="val 3578"/>
            </a:avLst>
          </a:prstGeom>
          <a:solidFill>
            <a:srgbClr val="1A2C45"/>
          </a:solidFill>
          <a:ln/>
        </p:spPr>
      </p:sp>
      <p:sp>
        <p:nvSpPr>
          <p:cNvPr id="4" name="Text 2"/>
          <p:cNvSpPr/>
          <p:nvPr/>
        </p:nvSpPr>
        <p:spPr>
          <a:xfrm>
            <a:off x="1041400" y="1795728"/>
            <a:ext cx="511467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B544"/>
                </a:solidFill>
                <a:latin typeface="Poppins" pitchFamily="34" charset="0"/>
                <a:ea typeface="Poppins" pitchFamily="34" charset="-122"/>
                <a:cs typeface="Poppins" pitchFamily="34" charset="-120"/>
              </a:rPr>
              <a:t>EXAMPLE CHAT</a:t>
            </a:r>
            <a:endParaRPr lang="en-US" sz="1300" dirty="0"/>
          </a:p>
        </p:txBody>
      </p:sp>
      <p:sp>
        <p:nvSpPr>
          <p:cNvPr id="5" name="Text 3"/>
          <p:cNvSpPr/>
          <p:nvPr/>
        </p:nvSpPr>
        <p:spPr>
          <a:xfrm>
            <a:off x="1041400" y="2153841"/>
            <a:ext cx="4965700" cy="538427"/>
          </a:xfrm>
          <a:prstGeom prst="roundRect">
            <a:avLst>
              <a:gd name="adj" fmla="val 23587"/>
            </a:avLst>
          </a:prstGeom>
          <a:solidFill>
            <a:srgbClr val="0B7A6E"/>
          </a:solidFill>
          <a:ln/>
        </p:spPr>
        <p:txBody>
          <a:bodyPr wrap="square" lIns="140603" tIns="89803" rIns="2300" bIns="64403" rtlCol="0" anchor="t">
            <a:normAutofit/>
          </a:bodyPr>
          <a:lstStyle/>
          <a:p>
            <a:pPr marL="0" indent="0" algn="l">
              <a:lnSpc>
                <a:spcPts val="2240"/>
              </a:lnSpc>
              <a:buNone/>
            </a:pPr>
            <a:r>
              <a:rPr lang="en-US" sz="1600" dirty="0">
                <a:solidFill>
                  <a:srgbClr val="F4F1EA"/>
                </a:solidFill>
                <a:latin typeface="Poppins" pitchFamily="34" charset="0"/>
                <a:ea typeface="Poppins" pitchFamily="34" charset="-122"/>
                <a:cs typeface="Poppins" pitchFamily="34" charset="-120"/>
              </a:rPr>
              <a:t>“Aaj 1500 ka kapra becha”</a:t>
            </a:r>
            <a:endParaRPr lang="en-US" sz="1600" dirty="0"/>
          </a:p>
        </p:txBody>
      </p:sp>
      <p:sp>
        <p:nvSpPr>
          <p:cNvPr id="6" name="Text 4"/>
          <p:cNvSpPr/>
          <p:nvPr/>
        </p:nvSpPr>
        <p:spPr>
          <a:xfrm>
            <a:off x="1041400" y="2819268"/>
            <a:ext cx="4965700" cy="520700"/>
          </a:xfrm>
          <a:prstGeom prst="roundRect">
            <a:avLst>
              <a:gd name="adj" fmla="val 24390"/>
            </a:avLst>
          </a:prstGeom>
          <a:solidFill>
            <a:srgbClr val="0F1B2D"/>
          </a:solidFill>
          <a:ln/>
        </p:spPr>
        <p:txBody>
          <a:bodyPr wrap="square" lIns="140603" tIns="89803" rIns="2300" bIns="64403" rtlCol="0" anchor="t">
            <a:normAutofit/>
          </a:bodyPr>
          <a:lstStyle/>
          <a:p>
            <a:pPr marL="0" indent="0" algn="l">
              <a:lnSpc>
                <a:spcPts val="2100"/>
              </a:lnSpc>
              <a:buNone/>
            </a:pPr>
            <a:r>
              <a:rPr lang="en-US" sz="1500" dirty="0">
                <a:solidFill>
                  <a:srgbClr val="C9D3DF"/>
                </a:solidFill>
                <a:latin typeface="Poppins" pitchFamily="34" charset="0"/>
                <a:ea typeface="Poppins" pitchFamily="34" charset="-122"/>
                <a:cs typeface="Poppins" pitchFamily="34" charset="-120"/>
              </a:rPr>
              <a:t>Income saved: Kapra · Rs. 1,500</a:t>
            </a:r>
            <a:endParaRPr lang="en-US" sz="1500" dirty="0"/>
          </a:p>
        </p:txBody>
      </p:sp>
      <p:sp>
        <p:nvSpPr>
          <p:cNvPr id="7" name="Text 5"/>
          <p:cNvSpPr/>
          <p:nvPr/>
        </p:nvSpPr>
        <p:spPr>
          <a:xfrm>
            <a:off x="1041400" y="3466968"/>
            <a:ext cx="4965700" cy="538427"/>
          </a:xfrm>
          <a:prstGeom prst="roundRect">
            <a:avLst>
              <a:gd name="adj" fmla="val 23587"/>
            </a:avLst>
          </a:prstGeom>
          <a:solidFill>
            <a:srgbClr val="0B7A6E"/>
          </a:solidFill>
          <a:ln/>
        </p:spPr>
        <p:txBody>
          <a:bodyPr wrap="square" lIns="140603" tIns="89803" rIns="2300" bIns="64403" rtlCol="0" anchor="t">
            <a:normAutofit/>
          </a:bodyPr>
          <a:lstStyle/>
          <a:p>
            <a:pPr marL="0" indent="0" algn="l">
              <a:lnSpc>
                <a:spcPts val="2240"/>
              </a:lnSpc>
              <a:buNone/>
            </a:pPr>
            <a:r>
              <a:rPr lang="en-US" sz="1600" dirty="0">
                <a:solidFill>
                  <a:srgbClr val="F4F1EA"/>
                </a:solidFill>
                <a:latin typeface="Poppins" pitchFamily="34" charset="0"/>
                <a:ea typeface="Poppins" pitchFamily="34" charset="-122"/>
                <a:cs typeface="Poppins" pitchFamily="34" charset="-120"/>
              </a:rPr>
              <a:t>“Aaj ki income kitni hai?”</a:t>
            </a:r>
            <a:endParaRPr lang="en-US" sz="1600" dirty="0"/>
          </a:p>
        </p:txBody>
      </p:sp>
      <p:sp>
        <p:nvSpPr>
          <p:cNvPr id="8" name="Shape 6"/>
          <p:cNvSpPr/>
          <p:nvPr/>
        </p:nvSpPr>
        <p:spPr>
          <a:xfrm>
            <a:off x="6413500" y="1567128"/>
            <a:ext cx="4965700" cy="1098484"/>
          </a:xfrm>
          <a:prstGeom prst="roundRect">
            <a:avLst>
              <a:gd name="adj" fmla="val 11561"/>
            </a:avLst>
          </a:prstGeom>
          <a:solidFill>
            <a:srgbClr val="1A2C45"/>
          </a:solidFill>
          <a:ln/>
        </p:spPr>
      </p:sp>
      <p:sp>
        <p:nvSpPr>
          <p:cNvPr id="9" name="Shape 7"/>
          <p:cNvSpPr/>
          <p:nvPr/>
        </p:nvSpPr>
        <p:spPr>
          <a:xfrm>
            <a:off x="6413500" y="1567128"/>
            <a:ext cx="4965700" cy="1098484"/>
          </a:xfrm>
          <a:custGeom>
            <a:avLst/>
            <a:gdLst/>
            <a:ahLst/>
            <a:cxnLst/>
            <a:rect l="l" t="t" r="r" b="b"/>
            <a:pathLst>
              <a:path w="4965700" h="1098484">
                <a:moveTo>
                  <a:pt x="0" y="127000"/>
                </a:moveTo>
                <a:lnTo>
                  <a:pt x="0" y="127000"/>
                </a:lnTo>
                <a:arcTo wR="127000" hR="127000" stAng="10800000" swAng="5400000"/>
                <a:lnTo>
                  <a:pt x="4838700" y="0"/>
                </a:lnTo>
                <a:arcTo wR="127000" hR="127000" stAng="16200000" swAng="5400000"/>
                <a:lnTo>
                  <a:pt x="4965700" y="127000"/>
                </a:lnTo>
                <a:arcTo wR="127000" hR="76200" stAng="0" swAng="-5400000"/>
                <a:lnTo>
                  <a:pt x="127000" y="50800"/>
                </a:lnTo>
                <a:arcTo wR="127000" hR="76200" stAng="16200000" swAng="-5400000"/>
                <a:close/>
              </a:path>
            </a:pathLst>
          </a:custGeom>
          <a:solidFill>
            <a:srgbClr val="F2B544"/>
          </a:solidFill>
          <a:ln/>
        </p:spPr>
      </p:sp>
      <p:sp>
        <p:nvSpPr>
          <p:cNvPr id="10" name="Text 8"/>
          <p:cNvSpPr/>
          <p:nvPr/>
        </p:nvSpPr>
        <p:spPr>
          <a:xfrm>
            <a:off x="6642100" y="1846528"/>
            <a:ext cx="4643755"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Context-aware</a:t>
            </a:r>
            <a:endParaRPr lang="en-US" sz="1800" dirty="0"/>
          </a:p>
        </p:txBody>
      </p:sp>
      <p:sp>
        <p:nvSpPr>
          <p:cNvPr id="11" name="Text 9"/>
          <p:cNvSpPr/>
          <p:nvPr/>
        </p:nvSpPr>
        <p:spPr>
          <a:xfrm>
            <a:off x="6642100" y="2197035"/>
            <a:ext cx="4643755"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Recent chat fills in missing details</a:t>
            </a:r>
            <a:endParaRPr lang="en-US" sz="1400" dirty="0"/>
          </a:p>
        </p:txBody>
      </p:sp>
      <p:sp>
        <p:nvSpPr>
          <p:cNvPr id="12" name="Shape 10"/>
          <p:cNvSpPr/>
          <p:nvPr/>
        </p:nvSpPr>
        <p:spPr>
          <a:xfrm>
            <a:off x="6413500" y="2792611"/>
            <a:ext cx="4965700" cy="1098484"/>
          </a:xfrm>
          <a:prstGeom prst="roundRect">
            <a:avLst>
              <a:gd name="adj" fmla="val 11561"/>
            </a:avLst>
          </a:prstGeom>
          <a:solidFill>
            <a:srgbClr val="1A2C45"/>
          </a:solidFill>
          <a:ln/>
        </p:spPr>
      </p:sp>
      <p:sp>
        <p:nvSpPr>
          <p:cNvPr id="13" name="Shape 11"/>
          <p:cNvSpPr/>
          <p:nvPr/>
        </p:nvSpPr>
        <p:spPr>
          <a:xfrm>
            <a:off x="6413500" y="2792611"/>
            <a:ext cx="4965700" cy="1098484"/>
          </a:xfrm>
          <a:custGeom>
            <a:avLst/>
            <a:gdLst/>
            <a:ahLst/>
            <a:cxnLst/>
            <a:rect l="l" t="t" r="r" b="b"/>
            <a:pathLst>
              <a:path w="4965700" h="1098484">
                <a:moveTo>
                  <a:pt x="0" y="127000"/>
                </a:moveTo>
                <a:lnTo>
                  <a:pt x="0" y="127000"/>
                </a:lnTo>
                <a:arcTo wR="127000" hR="127000" stAng="10800000" swAng="5400000"/>
                <a:lnTo>
                  <a:pt x="4838700" y="0"/>
                </a:lnTo>
                <a:arcTo wR="127000" hR="127000" stAng="16200000" swAng="5400000"/>
                <a:lnTo>
                  <a:pt x="4965700" y="127000"/>
                </a:lnTo>
                <a:arcTo wR="127000" hR="76200" stAng="0" swAng="-5400000"/>
                <a:lnTo>
                  <a:pt x="127000" y="50800"/>
                </a:lnTo>
                <a:arcTo wR="127000" hR="76200" stAng="16200000" swAng="-5400000"/>
                <a:close/>
              </a:path>
            </a:pathLst>
          </a:custGeom>
          <a:solidFill>
            <a:srgbClr val="F2B544"/>
          </a:solidFill>
          <a:ln/>
        </p:spPr>
      </p:sp>
      <p:sp>
        <p:nvSpPr>
          <p:cNvPr id="14" name="Text 12"/>
          <p:cNvSpPr/>
          <p:nvPr/>
        </p:nvSpPr>
        <p:spPr>
          <a:xfrm>
            <a:off x="6642100" y="3072011"/>
            <a:ext cx="4643755"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Language matching</a:t>
            </a:r>
            <a:endParaRPr lang="en-US" sz="1800" dirty="0"/>
          </a:p>
        </p:txBody>
      </p:sp>
      <p:sp>
        <p:nvSpPr>
          <p:cNvPr id="15" name="Text 13"/>
          <p:cNvSpPr/>
          <p:nvPr/>
        </p:nvSpPr>
        <p:spPr>
          <a:xfrm>
            <a:off x="6642100" y="3422518"/>
            <a:ext cx="4643755"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Replies in the language you use</a:t>
            </a:r>
            <a:endParaRPr lang="en-US" sz="1400" dirty="0"/>
          </a:p>
        </p:txBody>
      </p:sp>
      <p:sp>
        <p:nvSpPr>
          <p:cNvPr id="16" name="Shape 14"/>
          <p:cNvSpPr/>
          <p:nvPr/>
        </p:nvSpPr>
        <p:spPr>
          <a:xfrm>
            <a:off x="6413500" y="4018096"/>
            <a:ext cx="4965700" cy="1098484"/>
          </a:xfrm>
          <a:prstGeom prst="roundRect">
            <a:avLst>
              <a:gd name="adj" fmla="val 11561"/>
            </a:avLst>
          </a:prstGeom>
          <a:solidFill>
            <a:srgbClr val="1A2C45"/>
          </a:solidFill>
          <a:ln/>
        </p:spPr>
      </p:sp>
      <p:sp>
        <p:nvSpPr>
          <p:cNvPr id="17" name="Shape 15"/>
          <p:cNvSpPr/>
          <p:nvPr/>
        </p:nvSpPr>
        <p:spPr>
          <a:xfrm>
            <a:off x="6413500" y="4018096"/>
            <a:ext cx="4965700" cy="1098484"/>
          </a:xfrm>
          <a:custGeom>
            <a:avLst/>
            <a:gdLst/>
            <a:ahLst/>
            <a:cxnLst/>
            <a:rect l="l" t="t" r="r" b="b"/>
            <a:pathLst>
              <a:path w="4965700" h="1098484">
                <a:moveTo>
                  <a:pt x="0" y="127000"/>
                </a:moveTo>
                <a:lnTo>
                  <a:pt x="0" y="127000"/>
                </a:lnTo>
                <a:arcTo wR="127000" hR="127000" stAng="10800000" swAng="5400000"/>
                <a:lnTo>
                  <a:pt x="4838700" y="0"/>
                </a:lnTo>
                <a:arcTo wR="127000" hR="127000" stAng="16200000" swAng="5400000"/>
                <a:lnTo>
                  <a:pt x="4965700" y="127000"/>
                </a:lnTo>
                <a:arcTo wR="127000" hR="76200" stAng="0" swAng="-5400000"/>
                <a:lnTo>
                  <a:pt x="127000" y="50800"/>
                </a:lnTo>
                <a:arcTo wR="127000" hR="76200" stAng="16200000" swAng="-5400000"/>
                <a:close/>
              </a:path>
            </a:pathLst>
          </a:custGeom>
          <a:solidFill>
            <a:srgbClr val="F2B544"/>
          </a:solidFill>
          <a:ln/>
        </p:spPr>
      </p:sp>
      <p:sp>
        <p:nvSpPr>
          <p:cNvPr id="18" name="Text 16"/>
          <p:cNvSpPr/>
          <p:nvPr/>
        </p:nvSpPr>
        <p:spPr>
          <a:xfrm>
            <a:off x="6642100" y="4297496"/>
            <a:ext cx="4643755"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Voice recording</a:t>
            </a:r>
            <a:endParaRPr lang="en-US" sz="1800" dirty="0"/>
          </a:p>
        </p:txBody>
      </p:sp>
      <p:sp>
        <p:nvSpPr>
          <p:cNvPr id="19" name="Text 17"/>
          <p:cNvSpPr/>
          <p:nvPr/>
        </p:nvSpPr>
        <p:spPr>
          <a:xfrm>
            <a:off x="6642100" y="4648002"/>
            <a:ext cx="4643755"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Up to 30 seconds; auto, English or Urdu</a:t>
            </a:r>
            <a:endParaRPr lang="en-US" sz="1400" dirty="0"/>
          </a:p>
        </p:txBody>
      </p:sp>
      <p:sp>
        <p:nvSpPr>
          <p:cNvPr id="20" name="Text 18"/>
          <p:cNvSpPr/>
          <p:nvPr/>
        </p:nvSpPr>
        <p:spPr>
          <a:xfrm>
            <a:off x="812800" y="6238280"/>
            <a:ext cx="11763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3"/>
                </a:solidFill>
                <a:latin typeface="Poppins" pitchFamily="34" charset="0"/>
                <a:ea typeface="Poppins" pitchFamily="34" charset="-122"/>
                <a:cs typeface="Poppins" pitchFamily="34" charset="-120"/>
              </a:rPr>
              <a:t>HisabBot · 04</a:t>
            </a:r>
            <a:endParaRPr 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0327"/>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202F"/>
                </a:solidFill>
                <a:latin typeface="Poppins" pitchFamily="34" charset="0"/>
                <a:ea typeface="Poppins" pitchFamily="34" charset="-122"/>
                <a:cs typeface="Poppins" pitchFamily="34" charset="-120"/>
              </a:rPr>
              <a:t>System Architecture</a:t>
            </a:r>
            <a:endParaRPr lang="en-US" sz="3400" dirty="0"/>
          </a:p>
        </p:txBody>
      </p:sp>
      <p:sp>
        <p:nvSpPr>
          <p:cNvPr id="3" name="Shape 1"/>
          <p:cNvSpPr/>
          <p:nvPr/>
        </p:nvSpPr>
        <p:spPr>
          <a:xfrm>
            <a:off x="812800" y="1567129"/>
            <a:ext cx="2508250" cy="1578438"/>
          </a:xfrm>
          <a:prstGeom prst="roundRect">
            <a:avLst>
              <a:gd name="adj" fmla="val 8046"/>
            </a:avLst>
          </a:prstGeom>
          <a:solidFill>
            <a:srgbClr val="FFFFFF"/>
          </a:solidFill>
          <a:ln/>
        </p:spPr>
      </p:sp>
      <p:sp>
        <p:nvSpPr>
          <p:cNvPr id="4" name="Shape 2"/>
          <p:cNvSpPr/>
          <p:nvPr/>
        </p:nvSpPr>
        <p:spPr>
          <a:xfrm>
            <a:off x="812800" y="1567129"/>
            <a:ext cx="2508250" cy="1578438"/>
          </a:xfrm>
          <a:custGeom>
            <a:avLst/>
            <a:gdLst/>
            <a:ahLst/>
            <a:cxnLst/>
            <a:rect l="l" t="t" r="r" b="b"/>
            <a:pathLst>
              <a:path w="2508250" h="1578438">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14B8A6"/>
          </a:solidFill>
          <a:ln/>
        </p:spPr>
      </p:sp>
      <p:sp>
        <p:nvSpPr>
          <p:cNvPr id="5" name="Text 3"/>
          <p:cNvSpPr/>
          <p:nvPr/>
        </p:nvSpPr>
        <p:spPr>
          <a:xfrm>
            <a:off x="1041400" y="1846529"/>
            <a:ext cx="211258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Frontend</a:t>
            </a:r>
            <a:endParaRPr lang="en-US" sz="1800" dirty="0"/>
          </a:p>
        </p:txBody>
      </p:sp>
      <p:sp>
        <p:nvSpPr>
          <p:cNvPr id="6" name="Text 4"/>
          <p:cNvSpPr/>
          <p:nvPr/>
        </p:nvSpPr>
        <p:spPr>
          <a:xfrm>
            <a:off x="1041400" y="2197035"/>
            <a:ext cx="2112582" cy="74533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React 19, TypeScript, Vite: dashboard, chat, reports</a:t>
            </a:r>
            <a:endParaRPr lang="en-US" sz="1400" dirty="0"/>
          </a:p>
        </p:txBody>
      </p:sp>
      <p:sp>
        <p:nvSpPr>
          <p:cNvPr id="7" name="Shape 5"/>
          <p:cNvSpPr/>
          <p:nvPr/>
        </p:nvSpPr>
        <p:spPr>
          <a:xfrm>
            <a:off x="3498850" y="1567129"/>
            <a:ext cx="2508250" cy="1578438"/>
          </a:xfrm>
          <a:prstGeom prst="roundRect">
            <a:avLst>
              <a:gd name="adj" fmla="val 8046"/>
            </a:avLst>
          </a:prstGeom>
          <a:solidFill>
            <a:srgbClr val="FFFFFF"/>
          </a:solidFill>
          <a:ln/>
        </p:spPr>
      </p:sp>
      <p:sp>
        <p:nvSpPr>
          <p:cNvPr id="8" name="Shape 6"/>
          <p:cNvSpPr/>
          <p:nvPr/>
        </p:nvSpPr>
        <p:spPr>
          <a:xfrm>
            <a:off x="3498850" y="1567129"/>
            <a:ext cx="2508250" cy="1578438"/>
          </a:xfrm>
          <a:custGeom>
            <a:avLst/>
            <a:gdLst/>
            <a:ahLst/>
            <a:cxnLst/>
            <a:rect l="l" t="t" r="r" b="b"/>
            <a:pathLst>
              <a:path w="2508250" h="1578438">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14B8A6"/>
          </a:solidFill>
          <a:ln/>
        </p:spPr>
      </p:sp>
      <p:sp>
        <p:nvSpPr>
          <p:cNvPr id="9" name="Text 7"/>
          <p:cNvSpPr/>
          <p:nvPr/>
        </p:nvSpPr>
        <p:spPr>
          <a:xfrm>
            <a:off x="3727450" y="1846529"/>
            <a:ext cx="211258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Backend</a:t>
            </a:r>
            <a:endParaRPr lang="en-US" sz="1800" dirty="0"/>
          </a:p>
        </p:txBody>
      </p:sp>
      <p:sp>
        <p:nvSpPr>
          <p:cNvPr id="10" name="Text 8"/>
          <p:cNvSpPr/>
          <p:nvPr/>
        </p:nvSpPr>
        <p:spPr>
          <a:xfrm>
            <a:off x="3727450" y="2197035"/>
            <a:ext cx="2112582" cy="74533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Node.js + Express 5: REST API, validation, rate limits</a:t>
            </a:r>
            <a:endParaRPr lang="en-US" sz="1400" dirty="0"/>
          </a:p>
        </p:txBody>
      </p:sp>
      <p:sp>
        <p:nvSpPr>
          <p:cNvPr id="11" name="Shape 9"/>
          <p:cNvSpPr/>
          <p:nvPr/>
        </p:nvSpPr>
        <p:spPr>
          <a:xfrm>
            <a:off x="6184900" y="1567129"/>
            <a:ext cx="2508250" cy="1578438"/>
          </a:xfrm>
          <a:prstGeom prst="roundRect">
            <a:avLst>
              <a:gd name="adj" fmla="val 8046"/>
            </a:avLst>
          </a:prstGeom>
          <a:solidFill>
            <a:srgbClr val="FFFFFF"/>
          </a:solidFill>
          <a:ln/>
        </p:spPr>
      </p:sp>
      <p:sp>
        <p:nvSpPr>
          <p:cNvPr id="12" name="Shape 10"/>
          <p:cNvSpPr/>
          <p:nvPr/>
        </p:nvSpPr>
        <p:spPr>
          <a:xfrm>
            <a:off x="6184900" y="1567129"/>
            <a:ext cx="2508250" cy="1578438"/>
          </a:xfrm>
          <a:custGeom>
            <a:avLst/>
            <a:gdLst/>
            <a:ahLst/>
            <a:cxnLst/>
            <a:rect l="l" t="t" r="r" b="b"/>
            <a:pathLst>
              <a:path w="2508250" h="1578438">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14B8A6"/>
          </a:solidFill>
          <a:ln/>
        </p:spPr>
      </p:sp>
      <p:sp>
        <p:nvSpPr>
          <p:cNvPr id="13" name="Text 11"/>
          <p:cNvSpPr/>
          <p:nvPr/>
        </p:nvSpPr>
        <p:spPr>
          <a:xfrm>
            <a:off x="6413500" y="1846529"/>
            <a:ext cx="211258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Local AI</a:t>
            </a:r>
            <a:endParaRPr lang="en-US" sz="1800" dirty="0"/>
          </a:p>
        </p:txBody>
      </p:sp>
      <p:sp>
        <p:nvSpPr>
          <p:cNvPr id="14" name="Text 12"/>
          <p:cNvSpPr/>
          <p:nvPr/>
        </p:nvSpPr>
        <p:spPr>
          <a:xfrm>
            <a:off x="6413500" y="2197035"/>
            <a:ext cx="211258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LM Studio + Qwen 2.5 7B for tool calling</a:t>
            </a:r>
            <a:endParaRPr lang="en-US" sz="1400" dirty="0"/>
          </a:p>
        </p:txBody>
      </p:sp>
      <p:sp>
        <p:nvSpPr>
          <p:cNvPr id="15" name="Shape 13"/>
          <p:cNvSpPr/>
          <p:nvPr/>
        </p:nvSpPr>
        <p:spPr>
          <a:xfrm>
            <a:off x="8870950" y="1567129"/>
            <a:ext cx="2508250" cy="1578438"/>
          </a:xfrm>
          <a:prstGeom prst="roundRect">
            <a:avLst>
              <a:gd name="adj" fmla="val 8046"/>
            </a:avLst>
          </a:prstGeom>
          <a:solidFill>
            <a:srgbClr val="FFFFFF"/>
          </a:solidFill>
          <a:ln/>
        </p:spPr>
      </p:sp>
      <p:sp>
        <p:nvSpPr>
          <p:cNvPr id="16" name="Shape 14"/>
          <p:cNvSpPr/>
          <p:nvPr/>
        </p:nvSpPr>
        <p:spPr>
          <a:xfrm>
            <a:off x="8870950" y="1567129"/>
            <a:ext cx="2508250" cy="1578438"/>
          </a:xfrm>
          <a:custGeom>
            <a:avLst/>
            <a:gdLst/>
            <a:ahLst/>
            <a:cxnLst/>
            <a:rect l="l" t="t" r="r" b="b"/>
            <a:pathLst>
              <a:path w="2508250" h="1578438">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14B8A6"/>
          </a:solidFill>
          <a:ln/>
        </p:spPr>
      </p:sp>
      <p:sp>
        <p:nvSpPr>
          <p:cNvPr id="17" name="Text 15"/>
          <p:cNvSpPr/>
          <p:nvPr/>
        </p:nvSpPr>
        <p:spPr>
          <a:xfrm>
            <a:off x="9099550" y="1846529"/>
            <a:ext cx="211258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Database</a:t>
            </a:r>
            <a:endParaRPr lang="en-US" sz="1800" dirty="0"/>
          </a:p>
        </p:txBody>
      </p:sp>
      <p:sp>
        <p:nvSpPr>
          <p:cNvPr id="18" name="Text 16"/>
          <p:cNvSpPr/>
          <p:nvPr/>
        </p:nvSpPr>
        <p:spPr>
          <a:xfrm>
            <a:off x="9099550" y="2197035"/>
            <a:ext cx="2112582" cy="74533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SQLite via better-sqlite3, prepared statements</a:t>
            </a:r>
            <a:endParaRPr lang="en-US" sz="1400" dirty="0"/>
          </a:p>
        </p:txBody>
      </p:sp>
      <p:sp>
        <p:nvSpPr>
          <p:cNvPr id="19" name="Text 17"/>
          <p:cNvSpPr/>
          <p:nvPr/>
        </p:nvSpPr>
        <p:spPr>
          <a:xfrm>
            <a:off x="812800" y="3424966"/>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7A6E"/>
                </a:solidFill>
                <a:latin typeface="Poppins" pitchFamily="34" charset="0"/>
                <a:ea typeface="Poppins" pitchFamily="34" charset="-122"/>
                <a:cs typeface="Poppins" pitchFamily="34" charset="-120"/>
              </a:rPr>
              <a:t>Voice path: browser audio → /api/transcribe → Whisper.cpp → chat</a:t>
            </a:r>
            <a:endParaRPr lang="en-US" sz="1500" dirty="0"/>
          </a:p>
        </p:txBody>
      </p:sp>
      <p:sp>
        <p:nvSpPr>
          <p:cNvPr id="20" name="Text 18"/>
          <p:cNvSpPr/>
          <p:nvPr/>
        </p:nvSpPr>
        <p:spPr>
          <a:xfrm>
            <a:off x="812800" y="6238280"/>
            <a:ext cx="11761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773"/>
                </a:solidFill>
                <a:latin typeface="Poppins" pitchFamily="34" charset="0"/>
                <a:ea typeface="Poppins" pitchFamily="34" charset="-122"/>
                <a:cs typeface="Poppins" pitchFamily="34" charset="-120"/>
              </a:rPr>
              <a:t>HisabBot · 05</a:t>
            </a:r>
            <a:endParaRPr lang="en-US" sz="1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33181"/>
            <a:ext cx="10566400" cy="474927"/>
          </a:xfrm>
        </p:spPr>
        <p:txBody>
          <a:bodyPr/>
          <a:lstStyle/>
          <a:p>
            <a:r>
              <a:rPr lang="en-US" b="1" dirty="0"/>
              <a:t>System Architecture</a:t>
            </a:r>
            <a:endParaRPr lang="en-US" dirty="0"/>
          </a:p>
        </p:txBody>
      </p:sp>
      <p:sp>
        <p:nvSpPr>
          <p:cNvPr id="16" name="Rounded Rectangle 15"/>
          <p:cNvSpPr/>
          <p:nvPr/>
        </p:nvSpPr>
        <p:spPr>
          <a:xfrm>
            <a:off x="3337560" y="1557743"/>
            <a:ext cx="5486400" cy="914400"/>
          </a:xfrm>
          <a:prstGeom prst="roundRect">
            <a:avLst/>
          </a:prstGeom>
          <a:solidFill>
            <a:srgbClr val="E8EFFD"/>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Rectangle 16"/>
          <p:cNvSpPr/>
          <p:nvPr/>
        </p:nvSpPr>
        <p:spPr>
          <a:xfrm>
            <a:off x="3337560" y="1557743"/>
            <a:ext cx="5486400" cy="64008"/>
          </a:xfrm>
          <a:prstGeom prst="rect">
            <a:avLst/>
          </a:prstGeom>
          <a:solidFill>
            <a:srgbClr val="377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3447288" y="1704046"/>
            <a:ext cx="5266944" cy="270843"/>
          </a:xfrm>
          <a:prstGeom prst="rect">
            <a:avLst/>
          </a:prstGeom>
          <a:noFill/>
        </p:spPr>
        <p:txBody>
          <a:bodyPr wrap="square" lIns="36576" tIns="27432" rIns="36576" bIns="27432">
            <a:spAutoFit/>
          </a:bodyPr>
          <a:lstStyle/>
          <a:p>
            <a:pPr algn="ctr">
              <a:spcAft>
                <a:spcPts val="0"/>
              </a:spcAft>
            </a:pPr>
            <a:r>
              <a:rPr sz="1400" b="1" i="0" dirty="0">
                <a:solidFill>
                  <a:srgbClr val="111D34"/>
                </a:solidFill>
                <a:latin typeface="Aptos"/>
              </a:rPr>
              <a:t>Frontend — React 19 + </a:t>
            </a:r>
            <a:r>
              <a:rPr sz="1400" b="1" i="0" dirty="0" err="1">
                <a:solidFill>
                  <a:srgbClr val="111D34"/>
                </a:solidFill>
                <a:latin typeface="Aptos"/>
              </a:rPr>
              <a:t>TypeScript</a:t>
            </a:r>
            <a:r>
              <a:rPr sz="1400" b="1" i="0" dirty="0">
                <a:solidFill>
                  <a:srgbClr val="111D34"/>
                </a:solidFill>
                <a:latin typeface="Aptos"/>
              </a:rPr>
              <a:t> + </a:t>
            </a:r>
            <a:r>
              <a:rPr sz="1400" b="1" i="0" dirty="0" err="1">
                <a:solidFill>
                  <a:srgbClr val="111D34"/>
                </a:solidFill>
                <a:latin typeface="Aptos"/>
              </a:rPr>
              <a:t>Vite</a:t>
            </a:r>
            <a:endParaRPr sz="1400" b="1" i="0" dirty="0">
              <a:solidFill>
                <a:srgbClr val="111D34"/>
              </a:solidFill>
              <a:latin typeface="Aptos"/>
            </a:endParaRPr>
          </a:p>
        </p:txBody>
      </p:sp>
      <p:sp>
        <p:nvSpPr>
          <p:cNvPr id="19" name="TextBox 18"/>
          <p:cNvSpPr txBox="1"/>
          <p:nvPr/>
        </p:nvSpPr>
        <p:spPr>
          <a:xfrm>
            <a:off x="3474720" y="2051519"/>
            <a:ext cx="5212080" cy="270843"/>
          </a:xfrm>
          <a:prstGeom prst="rect">
            <a:avLst/>
          </a:prstGeom>
          <a:noFill/>
        </p:spPr>
        <p:txBody>
          <a:bodyPr wrap="square" lIns="36576" tIns="27432" rIns="36576" bIns="27432">
            <a:spAutoFit/>
          </a:bodyPr>
          <a:lstStyle/>
          <a:p>
            <a:pPr algn="ctr">
              <a:spcAft>
                <a:spcPts val="0"/>
              </a:spcAft>
            </a:pPr>
            <a:r>
              <a:rPr sz="1400" b="0" i="0">
                <a:solidFill>
                  <a:srgbClr val="243044"/>
                </a:solidFill>
                <a:latin typeface="Aptos"/>
              </a:rPr>
              <a:t>Dashboard • Transactions • Reports • Chat • Settings</a:t>
            </a:r>
          </a:p>
        </p:txBody>
      </p:sp>
      <p:sp>
        <p:nvSpPr>
          <p:cNvPr id="20" name="Rounded Rectangle 19"/>
          <p:cNvSpPr/>
          <p:nvPr/>
        </p:nvSpPr>
        <p:spPr>
          <a:xfrm>
            <a:off x="3337560" y="2865335"/>
            <a:ext cx="5486400" cy="1024128"/>
          </a:xfrm>
          <a:prstGeom prst="roundRect">
            <a:avLst/>
          </a:prstGeom>
          <a:solidFill>
            <a:srgbClr val="E2F7F3"/>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Rectangle 20"/>
          <p:cNvSpPr/>
          <p:nvPr/>
        </p:nvSpPr>
        <p:spPr>
          <a:xfrm>
            <a:off x="3337560" y="2865335"/>
            <a:ext cx="5486400" cy="64008"/>
          </a:xfrm>
          <a:prstGeom prst="rect">
            <a:avLst/>
          </a:prstGeom>
          <a:solidFill>
            <a:srgbClr val="1DA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2" name="TextBox 21"/>
          <p:cNvSpPr txBox="1"/>
          <p:nvPr/>
        </p:nvSpPr>
        <p:spPr>
          <a:xfrm>
            <a:off x="3447288" y="3011639"/>
            <a:ext cx="5266944" cy="270843"/>
          </a:xfrm>
          <a:prstGeom prst="rect">
            <a:avLst/>
          </a:prstGeom>
          <a:noFill/>
        </p:spPr>
        <p:txBody>
          <a:bodyPr wrap="square" lIns="36576" tIns="27432" rIns="36576" bIns="27432">
            <a:spAutoFit/>
          </a:bodyPr>
          <a:lstStyle/>
          <a:p>
            <a:pPr algn="ctr">
              <a:spcAft>
                <a:spcPts val="0"/>
              </a:spcAft>
            </a:pPr>
            <a:r>
              <a:rPr sz="1400" b="1" i="0">
                <a:solidFill>
                  <a:srgbClr val="111D34"/>
                </a:solidFill>
                <a:latin typeface="Aptos"/>
              </a:rPr>
              <a:t>Backend — Node.js + Express 5</a:t>
            </a:r>
          </a:p>
        </p:txBody>
      </p:sp>
      <p:sp>
        <p:nvSpPr>
          <p:cNvPr id="23" name="TextBox 22"/>
          <p:cNvSpPr txBox="1"/>
          <p:nvPr/>
        </p:nvSpPr>
        <p:spPr>
          <a:xfrm>
            <a:off x="3474720" y="3359111"/>
            <a:ext cx="5212080" cy="270843"/>
          </a:xfrm>
          <a:prstGeom prst="rect">
            <a:avLst/>
          </a:prstGeom>
          <a:noFill/>
        </p:spPr>
        <p:txBody>
          <a:bodyPr wrap="square" lIns="36576" tIns="27432" rIns="36576" bIns="27432">
            <a:spAutoFit/>
          </a:bodyPr>
          <a:lstStyle/>
          <a:p>
            <a:pPr algn="ctr">
              <a:spcAft>
                <a:spcPts val="0"/>
              </a:spcAft>
            </a:pPr>
            <a:r>
              <a:rPr sz="1400" b="0" i="0">
                <a:solidFill>
                  <a:srgbClr val="243044"/>
                </a:solidFill>
                <a:latin typeface="Aptos"/>
              </a:rPr>
              <a:t>REST API • validation • rate limits • shared transaction service</a:t>
            </a:r>
          </a:p>
        </p:txBody>
      </p:sp>
      <p:sp>
        <p:nvSpPr>
          <p:cNvPr id="24" name="Rounded Rectangle 23"/>
          <p:cNvSpPr/>
          <p:nvPr/>
        </p:nvSpPr>
        <p:spPr>
          <a:xfrm>
            <a:off x="777240" y="4712423"/>
            <a:ext cx="4754880" cy="1051560"/>
          </a:xfrm>
          <a:prstGeom prst="roundRect">
            <a:avLst/>
          </a:prstGeom>
          <a:solidFill>
            <a:srgbClr val="FFF6E4"/>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Rectangle 24"/>
          <p:cNvSpPr/>
          <p:nvPr/>
        </p:nvSpPr>
        <p:spPr>
          <a:xfrm>
            <a:off x="777240" y="4712423"/>
            <a:ext cx="4754880" cy="64008"/>
          </a:xfrm>
          <a:prstGeom prst="rect">
            <a:avLst/>
          </a:prstGeom>
          <a:solidFill>
            <a:srgbClr val="F2B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6" name="TextBox 25"/>
          <p:cNvSpPr txBox="1"/>
          <p:nvPr/>
        </p:nvSpPr>
        <p:spPr>
          <a:xfrm>
            <a:off x="886968" y="4858727"/>
            <a:ext cx="4535424" cy="270843"/>
          </a:xfrm>
          <a:prstGeom prst="rect">
            <a:avLst/>
          </a:prstGeom>
          <a:noFill/>
        </p:spPr>
        <p:txBody>
          <a:bodyPr wrap="square" lIns="36576" tIns="27432" rIns="36576" bIns="27432">
            <a:spAutoFit/>
          </a:bodyPr>
          <a:lstStyle/>
          <a:p>
            <a:pPr algn="ctr">
              <a:spcAft>
                <a:spcPts val="0"/>
              </a:spcAft>
            </a:pPr>
            <a:r>
              <a:rPr sz="1400" b="1" i="0">
                <a:solidFill>
                  <a:srgbClr val="111D34"/>
                </a:solidFill>
                <a:latin typeface="Aptos"/>
              </a:rPr>
              <a:t>Local AI — LM Studio + Qwen 2.5 7B</a:t>
            </a:r>
          </a:p>
        </p:txBody>
      </p:sp>
      <p:sp>
        <p:nvSpPr>
          <p:cNvPr id="27" name="TextBox 26"/>
          <p:cNvSpPr txBox="1"/>
          <p:nvPr/>
        </p:nvSpPr>
        <p:spPr>
          <a:xfrm>
            <a:off x="914400" y="5206199"/>
            <a:ext cx="4480560" cy="270843"/>
          </a:xfrm>
          <a:prstGeom prst="rect">
            <a:avLst/>
          </a:prstGeom>
          <a:noFill/>
        </p:spPr>
        <p:txBody>
          <a:bodyPr wrap="square" lIns="36576" tIns="27432" rIns="36576" bIns="27432">
            <a:spAutoFit/>
          </a:bodyPr>
          <a:lstStyle/>
          <a:p>
            <a:pPr algn="ctr">
              <a:spcAft>
                <a:spcPts val="0"/>
              </a:spcAft>
            </a:pPr>
            <a:r>
              <a:rPr sz="1400" b="0" i="0">
                <a:solidFill>
                  <a:srgbClr val="243044"/>
                </a:solidFill>
                <a:latin typeface="Aptos"/>
              </a:rPr>
              <a:t>Local API • tool calling • response generation</a:t>
            </a:r>
          </a:p>
        </p:txBody>
      </p:sp>
      <p:sp>
        <p:nvSpPr>
          <p:cNvPr id="28" name="Rounded Rectangle 27"/>
          <p:cNvSpPr/>
          <p:nvPr/>
        </p:nvSpPr>
        <p:spPr>
          <a:xfrm>
            <a:off x="6675120" y="4712423"/>
            <a:ext cx="4754880" cy="1051560"/>
          </a:xfrm>
          <a:prstGeom prst="roundRect">
            <a:avLst/>
          </a:prstGeom>
          <a:solidFill>
            <a:srgbClr val="E8EFFD"/>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Rectangle 28"/>
          <p:cNvSpPr/>
          <p:nvPr/>
        </p:nvSpPr>
        <p:spPr>
          <a:xfrm>
            <a:off x="6675120" y="4712423"/>
            <a:ext cx="4754880" cy="64008"/>
          </a:xfrm>
          <a:prstGeom prst="rect">
            <a:avLst/>
          </a:prstGeom>
          <a:solidFill>
            <a:srgbClr val="377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0" name="TextBox 29"/>
          <p:cNvSpPr txBox="1"/>
          <p:nvPr/>
        </p:nvSpPr>
        <p:spPr>
          <a:xfrm>
            <a:off x="6784848" y="4858727"/>
            <a:ext cx="4535424" cy="270843"/>
          </a:xfrm>
          <a:prstGeom prst="rect">
            <a:avLst/>
          </a:prstGeom>
          <a:noFill/>
        </p:spPr>
        <p:txBody>
          <a:bodyPr wrap="square" lIns="36576" tIns="27432" rIns="36576" bIns="27432">
            <a:spAutoFit/>
          </a:bodyPr>
          <a:lstStyle/>
          <a:p>
            <a:pPr algn="ctr">
              <a:spcAft>
                <a:spcPts val="0"/>
              </a:spcAft>
            </a:pPr>
            <a:r>
              <a:rPr sz="1400" b="1" i="0">
                <a:solidFill>
                  <a:srgbClr val="111D34"/>
                </a:solidFill>
                <a:latin typeface="Aptos"/>
              </a:rPr>
              <a:t>SQLite — better-sqlite3</a:t>
            </a:r>
          </a:p>
        </p:txBody>
      </p:sp>
      <p:sp>
        <p:nvSpPr>
          <p:cNvPr id="31" name="TextBox 30"/>
          <p:cNvSpPr txBox="1"/>
          <p:nvPr/>
        </p:nvSpPr>
        <p:spPr>
          <a:xfrm>
            <a:off x="6812280" y="5206199"/>
            <a:ext cx="4480560" cy="270843"/>
          </a:xfrm>
          <a:prstGeom prst="rect">
            <a:avLst/>
          </a:prstGeom>
          <a:noFill/>
        </p:spPr>
        <p:txBody>
          <a:bodyPr wrap="square" lIns="36576" tIns="27432" rIns="36576" bIns="27432">
            <a:spAutoFit/>
          </a:bodyPr>
          <a:lstStyle/>
          <a:p>
            <a:pPr algn="ctr">
              <a:spcAft>
                <a:spcPts val="0"/>
              </a:spcAft>
            </a:pPr>
            <a:r>
              <a:rPr sz="1400" b="0" i="0">
                <a:solidFill>
                  <a:srgbClr val="243044"/>
                </a:solidFill>
                <a:latin typeface="Aptos"/>
              </a:rPr>
              <a:t>Transaction records • prepared statements • summaries</a:t>
            </a:r>
          </a:p>
        </p:txBody>
      </p:sp>
      <p:cxnSp>
        <p:nvCxnSpPr>
          <p:cNvPr id="32" name="Connector 22"/>
          <p:cNvCxnSpPr/>
          <p:nvPr/>
        </p:nvCxnSpPr>
        <p:spPr>
          <a:xfrm>
            <a:off x="6080760" y="2490431"/>
            <a:ext cx="0" cy="338328"/>
          </a:xfrm>
          <a:prstGeom prst="line">
            <a:avLst/>
          </a:prstGeom>
          <a:ln w="25400">
            <a:solidFill>
              <a:srgbClr val="3770D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217920" y="2536151"/>
            <a:ext cx="1417320" cy="270843"/>
          </a:xfrm>
          <a:prstGeom prst="rect">
            <a:avLst/>
          </a:prstGeom>
          <a:noFill/>
        </p:spPr>
        <p:txBody>
          <a:bodyPr wrap="square" lIns="36576" tIns="27432" rIns="36576" bIns="27432">
            <a:spAutoFit/>
          </a:bodyPr>
          <a:lstStyle/>
          <a:p>
            <a:pPr algn="l">
              <a:spcAft>
                <a:spcPts val="0"/>
              </a:spcAft>
            </a:pPr>
            <a:r>
              <a:rPr sz="1400" b="1" i="0">
                <a:solidFill>
                  <a:srgbClr val="657389"/>
                </a:solidFill>
                <a:latin typeface="Aptos"/>
              </a:rPr>
              <a:t>HTTP / JSON</a:t>
            </a:r>
          </a:p>
        </p:txBody>
      </p:sp>
      <p:cxnSp>
        <p:nvCxnSpPr>
          <p:cNvPr id="34" name="Connector 24"/>
          <p:cNvCxnSpPr/>
          <p:nvPr/>
        </p:nvCxnSpPr>
        <p:spPr>
          <a:xfrm flipH="1">
            <a:off x="3291840" y="3907751"/>
            <a:ext cx="1280160" cy="768096"/>
          </a:xfrm>
          <a:prstGeom prst="line">
            <a:avLst/>
          </a:prstGeom>
          <a:ln w="25400">
            <a:solidFill>
              <a:srgbClr val="1DAB9D"/>
            </a:solidFill>
          </a:ln>
        </p:spPr>
        <p:style>
          <a:lnRef idx="2">
            <a:schemeClr val="accent1"/>
          </a:lnRef>
          <a:fillRef idx="0">
            <a:schemeClr val="accent1"/>
          </a:fillRef>
          <a:effectRef idx="1">
            <a:schemeClr val="accent1"/>
          </a:effectRef>
          <a:fontRef idx="minor">
            <a:schemeClr val="tx1"/>
          </a:fontRef>
        </p:style>
      </p:cxnSp>
      <p:cxnSp>
        <p:nvCxnSpPr>
          <p:cNvPr id="35" name="Connector 25"/>
          <p:cNvCxnSpPr/>
          <p:nvPr/>
        </p:nvCxnSpPr>
        <p:spPr>
          <a:xfrm>
            <a:off x="7543800" y="3907751"/>
            <a:ext cx="1371600" cy="768096"/>
          </a:xfrm>
          <a:prstGeom prst="line">
            <a:avLst/>
          </a:prstGeom>
          <a:ln w="25400">
            <a:solidFill>
              <a:srgbClr val="1DAB9D"/>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426719" y="6031916"/>
            <a:ext cx="11313523" cy="646331"/>
          </a:xfrm>
          <a:prstGeom prst="rect">
            <a:avLst/>
          </a:prstGeom>
        </p:spPr>
        <p:txBody>
          <a:bodyPr wrap="square">
            <a:spAutoFit/>
          </a:bodyPr>
          <a:lstStyle/>
          <a:p>
            <a:r>
              <a:rPr lang="en-US" b="1" i="1" dirty="0">
                <a:solidFill>
                  <a:schemeClr val="accent2"/>
                </a:solidFill>
                <a:latin typeface="Aptos"/>
              </a:rPr>
              <a:t>Voice path: browser audio → /</a:t>
            </a:r>
            <a:r>
              <a:rPr lang="en-US" b="1" i="1" dirty="0" err="1">
                <a:solidFill>
                  <a:schemeClr val="accent2"/>
                </a:solidFill>
                <a:latin typeface="Aptos"/>
              </a:rPr>
              <a:t>api</a:t>
            </a:r>
            <a:r>
              <a:rPr lang="en-US" b="1" i="1" dirty="0">
                <a:solidFill>
                  <a:schemeClr val="accent2"/>
                </a:solidFill>
                <a:latin typeface="Aptos"/>
              </a:rPr>
              <a:t>/transcribe → local transcription </a:t>
            </a:r>
            <a:r>
              <a:rPr lang="en-US" b="1" i="1" dirty="0" smtClean="0">
                <a:solidFill>
                  <a:schemeClr val="accent2"/>
                </a:solidFill>
                <a:latin typeface="Aptos"/>
              </a:rPr>
              <a:t>service (WHISPER.CPP) </a:t>
            </a:r>
            <a:r>
              <a:rPr lang="en-US" b="1" i="1" dirty="0">
                <a:solidFill>
                  <a:schemeClr val="accent2"/>
                </a:solidFill>
                <a:latin typeface="Aptos"/>
              </a:rPr>
              <a:t>→ transcript returned to chat.</a:t>
            </a:r>
            <a:endParaRPr lang="en-US" b="1" i="1" dirty="0">
              <a:solidFill>
                <a:schemeClr val="accent2"/>
              </a:solidFill>
              <a:latin typeface="Aptos"/>
            </a:endParaRPr>
          </a:p>
        </p:txBody>
      </p:sp>
    </p:spTree>
    <p:extLst>
      <p:ext uri="{BB962C8B-B14F-4D97-AF65-F5344CB8AC3E}">
        <p14:creationId xmlns:p14="http://schemas.microsoft.com/office/powerpoint/2010/main" val="19071034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0327"/>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F4F1EA"/>
                </a:solidFill>
                <a:latin typeface="Poppins" pitchFamily="34" charset="0"/>
                <a:ea typeface="Poppins" pitchFamily="34" charset="-122"/>
                <a:cs typeface="Poppins" pitchFamily="34" charset="-120"/>
              </a:rPr>
              <a:t>Transaction Workflow</a:t>
            </a:r>
            <a:endParaRPr lang="en-US" sz="3400" dirty="0"/>
          </a:p>
        </p:txBody>
      </p:sp>
      <p:sp>
        <p:nvSpPr>
          <p:cNvPr id="3" name="Text 1"/>
          <p:cNvSpPr/>
          <p:nvPr/>
        </p:nvSpPr>
        <p:spPr>
          <a:xfrm>
            <a:off x="812800" y="1567129"/>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2B544"/>
                </a:solidFill>
                <a:latin typeface="Poppins" pitchFamily="34" charset="0"/>
                <a:ea typeface="Poppins" pitchFamily="34" charset="-122"/>
                <a:cs typeface="Poppins" pitchFamily="34" charset="-120"/>
              </a:rPr>
              <a:t>“I sold fabric for PKR 1,500 today.”</a:t>
            </a:r>
            <a:endParaRPr lang="en-US" sz="1700" dirty="0"/>
          </a:p>
        </p:txBody>
      </p:sp>
      <p:sp>
        <p:nvSpPr>
          <p:cNvPr id="4" name="Shape 2"/>
          <p:cNvSpPr/>
          <p:nvPr/>
        </p:nvSpPr>
        <p:spPr>
          <a:xfrm>
            <a:off x="812800" y="2148749"/>
            <a:ext cx="3403600" cy="1098484"/>
          </a:xfrm>
          <a:prstGeom prst="roundRect">
            <a:avLst>
              <a:gd name="adj" fmla="val 11561"/>
            </a:avLst>
          </a:prstGeom>
          <a:solidFill>
            <a:srgbClr val="1A2C45"/>
          </a:solidFill>
          <a:ln/>
        </p:spPr>
      </p:sp>
      <p:sp>
        <p:nvSpPr>
          <p:cNvPr id="5" name="Shape 3"/>
          <p:cNvSpPr/>
          <p:nvPr/>
        </p:nvSpPr>
        <p:spPr>
          <a:xfrm>
            <a:off x="812800" y="2148749"/>
            <a:ext cx="3403600" cy="1098484"/>
          </a:xfrm>
          <a:custGeom>
            <a:avLst/>
            <a:gdLst/>
            <a:ahLst/>
            <a:cxnLst/>
            <a:rect l="l" t="t" r="r" b="b"/>
            <a:pathLst>
              <a:path w="3403600" h="1098484">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6" name="Text 4"/>
          <p:cNvSpPr/>
          <p:nvPr/>
        </p:nvSpPr>
        <p:spPr>
          <a:xfrm>
            <a:off x="1041400" y="2428149"/>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1 · User input</a:t>
            </a:r>
            <a:endParaRPr lang="en-US" sz="1800" dirty="0"/>
          </a:p>
        </p:txBody>
      </p:sp>
      <p:sp>
        <p:nvSpPr>
          <p:cNvPr id="7" name="Text 5"/>
          <p:cNvSpPr/>
          <p:nvPr/>
        </p:nvSpPr>
        <p:spPr>
          <a:xfrm>
            <a:off x="1041400" y="2778655"/>
            <a:ext cx="3034792"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Typed or transcribed voice</a:t>
            </a:r>
            <a:endParaRPr lang="en-US" sz="1400" dirty="0"/>
          </a:p>
        </p:txBody>
      </p:sp>
      <p:sp>
        <p:nvSpPr>
          <p:cNvPr id="8" name="Shape 6"/>
          <p:cNvSpPr/>
          <p:nvPr/>
        </p:nvSpPr>
        <p:spPr>
          <a:xfrm>
            <a:off x="4394200" y="2148749"/>
            <a:ext cx="3403600" cy="1098484"/>
          </a:xfrm>
          <a:prstGeom prst="roundRect">
            <a:avLst>
              <a:gd name="adj" fmla="val 11561"/>
            </a:avLst>
          </a:prstGeom>
          <a:solidFill>
            <a:srgbClr val="1A2C45"/>
          </a:solidFill>
          <a:ln/>
        </p:spPr>
      </p:sp>
      <p:sp>
        <p:nvSpPr>
          <p:cNvPr id="9" name="Shape 7"/>
          <p:cNvSpPr/>
          <p:nvPr/>
        </p:nvSpPr>
        <p:spPr>
          <a:xfrm>
            <a:off x="4394200" y="2148749"/>
            <a:ext cx="3403600" cy="1098484"/>
          </a:xfrm>
          <a:custGeom>
            <a:avLst/>
            <a:gdLst/>
            <a:ahLst/>
            <a:cxnLst/>
            <a:rect l="l" t="t" r="r" b="b"/>
            <a:pathLst>
              <a:path w="3403600" h="1098484">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10" name="Text 8"/>
          <p:cNvSpPr/>
          <p:nvPr/>
        </p:nvSpPr>
        <p:spPr>
          <a:xfrm>
            <a:off x="4622800" y="2428149"/>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2 · API request</a:t>
            </a:r>
            <a:endParaRPr lang="en-US" sz="1800" dirty="0"/>
          </a:p>
        </p:txBody>
      </p:sp>
      <p:sp>
        <p:nvSpPr>
          <p:cNvPr id="11" name="Text 9"/>
          <p:cNvSpPr/>
          <p:nvPr/>
        </p:nvSpPr>
        <p:spPr>
          <a:xfrm>
            <a:off x="4622800" y="2778655"/>
            <a:ext cx="3034792"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POST /api/chat is validated</a:t>
            </a:r>
            <a:endParaRPr lang="en-US" sz="1400" dirty="0"/>
          </a:p>
        </p:txBody>
      </p:sp>
      <p:sp>
        <p:nvSpPr>
          <p:cNvPr id="12" name="Shape 10"/>
          <p:cNvSpPr/>
          <p:nvPr/>
        </p:nvSpPr>
        <p:spPr>
          <a:xfrm>
            <a:off x="7975600" y="2148749"/>
            <a:ext cx="3403600" cy="1098484"/>
          </a:xfrm>
          <a:prstGeom prst="roundRect">
            <a:avLst>
              <a:gd name="adj" fmla="val 11561"/>
            </a:avLst>
          </a:prstGeom>
          <a:solidFill>
            <a:srgbClr val="1A2C45"/>
          </a:solidFill>
          <a:ln/>
        </p:spPr>
      </p:sp>
      <p:sp>
        <p:nvSpPr>
          <p:cNvPr id="13" name="Shape 11"/>
          <p:cNvSpPr/>
          <p:nvPr/>
        </p:nvSpPr>
        <p:spPr>
          <a:xfrm>
            <a:off x="7975600" y="2148749"/>
            <a:ext cx="3403600" cy="1098484"/>
          </a:xfrm>
          <a:custGeom>
            <a:avLst/>
            <a:gdLst/>
            <a:ahLst/>
            <a:cxnLst/>
            <a:rect l="l" t="t" r="r" b="b"/>
            <a:pathLst>
              <a:path w="3403600" h="1098484">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14" name="Text 12"/>
          <p:cNvSpPr/>
          <p:nvPr/>
        </p:nvSpPr>
        <p:spPr>
          <a:xfrm>
            <a:off x="8204200" y="2428149"/>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3 · Qwen tool call</a:t>
            </a:r>
            <a:endParaRPr lang="en-US" sz="1800" dirty="0"/>
          </a:p>
        </p:txBody>
      </p:sp>
      <p:sp>
        <p:nvSpPr>
          <p:cNvPr id="15" name="Text 13"/>
          <p:cNvSpPr/>
          <p:nvPr/>
        </p:nvSpPr>
        <p:spPr>
          <a:xfrm>
            <a:off x="8204200" y="2778655"/>
            <a:ext cx="3034792"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Picks an approved operation</a:t>
            </a:r>
            <a:endParaRPr lang="en-US" sz="1400" dirty="0"/>
          </a:p>
        </p:txBody>
      </p:sp>
      <p:sp>
        <p:nvSpPr>
          <p:cNvPr id="16" name="Shape 14"/>
          <p:cNvSpPr/>
          <p:nvPr/>
        </p:nvSpPr>
        <p:spPr>
          <a:xfrm>
            <a:off x="812800" y="3425031"/>
            <a:ext cx="3403600" cy="1098484"/>
          </a:xfrm>
          <a:prstGeom prst="roundRect">
            <a:avLst>
              <a:gd name="adj" fmla="val 11561"/>
            </a:avLst>
          </a:prstGeom>
          <a:solidFill>
            <a:srgbClr val="1A2C45"/>
          </a:solidFill>
          <a:ln/>
        </p:spPr>
      </p:sp>
      <p:sp>
        <p:nvSpPr>
          <p:cNvPr id="17" name="Shape 15"/>
          <p:cNvSpPr/>
          <p:nvPr/>
        </p:nvSpPr>
        <p:spPr>
          <a:xfrm>
            <a:off x="812800" y="3425031"/>
            <a:ext cx="3403600" cy="1098484"/>
          </a:xfrm>
          <a:custGeom>
            <a:avLst/>
            <a:gdLst/>
            <a:ahLst/>
            <a:cxnLst/>
            <a:rect l="l" t="t" r="r" b="b"/>
            <a:pathLst>
              <a:path w="3403600" h="1098484">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18" name="Text 16"/>
          <p:cNvSpPr/>
          <p:nvPr/>
        </p:nvSpPr>
        <p:spPr>
          <a:xfrm>
            <a:off x="1041400" y="3704431"/>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4 · Service</a:t>
            </a:r>
            <a:endParaRPr lang="en-US" sz="1800" dirty="0"/>
          </a:p>
        </p:txBody>
      </p:sp>
      <p:sp>
        <p:nvSpPr>
          <p:cNvPr id="19" name="Text 17"/>
          <p:cNvSpPr/>
          <p:nvPr/>
        </p:nvSpPr>
        <p:spPr>
          <a:xfrm>
            <a:off x="1041400" y="4054940"/>
            <a:ext cx="3034792"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Checks type, amount and text</a:t>
            </a:r>
            <a:endParaRPr lang="en-US" sz="1400" dirty="0"/>
          </a:p>
        </p:txBody>
      </p:sp>
      <p:sp>
        <p:nvSpPr>
          <p:cNvPr id="20" name="Shape 18"/>
          <p:cNvSpPr/>
          <p:nvPr/>
        </p:nvSpPr>
        <p:spPr>
          <a:xfrm>
            <a:off x="4394200" y="3425031"/>
            <a:ext cx="3403600" cy="1098484"/>
          </a:xfrm>
          <a:prstGeom prst="roundRect">
            <a:avLst>
              <a:gd name="adj" fmla="val 11561"/>
            </a:avLst>
          </a:prstGeom>
          <a:solidFill>
            <a:srgbClr val="1A2C45"/>
          </a:solidFill>
          <a:ln/>
        </p:spPr>
      </p:sp>
      <p:sp>
        <p:nvSpPr>
          <p:cNvPr id="21" name="Shape 19"/>
          <p:cNvSpPr/>
          <p:nvPr/>
        </p:nvSpPr>
        <p:spPr>
          <a:xfrm>
            <a:off x="4394200" y="3425031"/>
            <a:ext cx="3403600" cy="1098484"/>
          </a:xfrm>
          <a:custGeom>
            <a:avLst/>
            <a:gdLst/>
            <a:ahLst/>
            <a:cxnLst/>
            <a:rect l="l" t="t" r="r" b="b"/>
            <a:pathLst>
              <a:path w="3403600" h="1098484">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22" name="Text 20"/>
          <p:cNvSpPr/>
          <p:nvPr/>
        </p:nvSpPr>
        <p:spPr>
          <a:xfrm>
            <a:off x="4622800" y="3704431"/>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5 · SQLite</a:t>
            </a:r>
            <a:endParaRPr lang="en-US" sz="1800" dirty="0"/>
          </a:p>
        </p:txBody>
      </p:sp>
      <p:sp>
        <p:nvSpPr>
          <p:cNvPr id="23" name="Text 21"/>
          <p:cNvSpPr/>
          <p:nvPr/>
        </p:nvSpPr>
        <p:spPr>
          <a:xfrm>
            <a:off x="4622800" y="4054940"/>
            <a:ext cx="3175000"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Prepared query saves the record</a:t>
            </a:r>
            <a:endParaRPr lang="en-US" sz="1400" dirty="0"/>
          </a:p>
        </p:txBody>
      </p:sp>
      <p:sp>
        <p:nvSpPr>
          <p:cNvPr id="24" name="Shape 22"/>
          <p:cNvSpPr/>
          <p:nvPr/>
        </p:nvSpPr>
        <p:spPr>
          <a:xfrm>
            <a:off x="7975600" y="3425031"/>
            <a:ext cx="3403600" cy="1098484"/>
          </a:xfrm>
          <a:prstGeom prst="roundRect">
            <a:avLst>
              <a:gd name="adj" fmla="val 11561"/>
            </a:avLst>
          </a:prstGeom>
          <a:solidFill>
            <a:srgbClr val="1A2C45"/>
          </a:solidFill>
          <a:ln/>
        </p:spPr>
      </p:sp>
      <p:sp>
        <p:nvSpPr>
          <p:cNvPr id="25" name="Shape 23"/>
          <p:cNvSpPr/>
          <p:nvPr/>
        </p:nvSpPr>
        <p:spPr>
          <a:xfrm>
            <a:off x="7975600" y="3425031"/>
            <a:ext cx="3403600" cy="1098484"/>
          </a:xfrm>
          <a:custGeom>
            <a:avLst/>
            <a:gdLst/>
            <a:ahLst/>
            <a:cxnLst/>
            <a:rect l="l" t="t" r="r" b="b"/>
            <a:pathLst>
              <a:path w="3403600" h="1098484">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26" name="Text 24"/>
          <p:cNvSpPr/>
          <p:nvPr/>
        </p:nvSpPr>
        <p:spPr>
          <a:xfrm>
            <a:off x="8204200" y="3704431"/>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6 · Real reply</a:t>
            </a:r>
            <a:endParaRPr lang="en-US" sz="1800" dirty="0"/>
          </a:p>
        </p:txBody>
      </p:sp>
      <p:sp>
        <p:nvSpPr>
          <p:cNvPr id="27" name="Text 25"/>
          <p:cNvSpPr/>
          <p:nvPr/>
        </p:nvSpPr>
        <p:spPr>
          <a:xfrm>
            <a:off x="8204200" y="4054940"/>
            <a:ext cx="3175000"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Result comes from the database</a:t>
            </a:r>
            <a:endParaRPr lang="en-US" sz="1400" dirty="0"/>
          </a:p>
        </p:txBody>
      </p:sp>
      <p:sp>
        <p:nvSpPr>
          <p:cNvPr id="28" name="Text 26"/>
          <p:cNvSpPr/>
          <p:nvPr/>
        </p:nvSpPr>
        <p:spPr>
          <a:xfrm>
            <a:off x="812800" y="6238280"/>
            <a:ext cx="11774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3"/>
                </a:solidFill>
                <a:latin typeface="Poppins" pitchFamily="34" charset="0"/>
                <a:ea typeface="Poppins" pitchFamily="34" charset="-122"/>
                <a:cs typeface="Poppins" pitchFamily="34" charset="-120"/>
              </a:rPr>
              <a:t>HisabBot · 06</a:t>
            </a:r>
            <a:endParaRPr lang="en-US" sz="1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0327"/>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202F"/>
                </a:solidFill>
                <a:latin typeface="Poppins" pitchFamily="34" charset="0"/>
                <a:ea typeface="Poppins" pitchFamily="34" charset="-122"/>
                <a:cs typeface="Poppins" pitchFamily="34" charset="-120"/>
              </a:rPr>
              <a:t>Live Demonstration</a:t>
            </a:r>
            <a:endParaRPr lang="en-US" sz="3400" dirty="0"/>
          </a:p>
        </p:txBody>
      </p:sp>
      <p:sp>
        <p:nvSpPr>
          <p:cNvPr id="3" name="Shape 1"/>
          <p:cNvSpPr/>
          <p:nvPr/>
        </p:nvSpPr>
        <p:spPr>
          <a:xfrm>
            <a:off x="812800" y="1567129"/>
            <a:ext cx="2508250" cy="1338461"/>
          </a:xfrm>
          <a:prstGeom prst="roundRect">
            <a:avLst>
              <a:gd name="adj" fmla="val 9489"/>
            </a:avLst>
          </a:prstGeom>
          <a:solidFill>
            <a:srgbClr val="FFFFFF"/>
          </a:solidFill>
          <a:ln/>
        </p:spPr>
      </p:sp>
      <p:sp>
        <p:nvSpPr>
          <p:cNvPr id="4" name="Shape 2"/>
          <p:cNvSpPr/>
          <p:nvPr/>
        </p:nvSpPr>
        <p:spPr>
          <a:xfrm>
            <a:off x="812800" y="1567129"/>
            <a:ext cx="2508250" cy="1338461"/>
          </a:xfrm>
          <a:custGeom>
            <a:avLst/>
            <a:gdLst/>
            <a:ahLst/>
            <a:cxnLst/>
            <a:rect l="l" t="t" r="r" b="b"/>
            <a:pathLst>
              <a:path w="2508250" h="1338461">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14B8A6"/>
          </a:solidFill>
          <a:ln/>
        </p:spPr>
      </p:sp>
      <p:sp>
        <p:nvSpPr>
          <p:cNvPr id="5" name="Text 3"/>
          <p:cNvSpPr/>
          <p:nvPr/>
        </p:nvSpPr>
        <p:spPr>
          <a:xfrm>
            <a:off x="1041400" y="1846529"/>
            <a:ext cx="211258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1 · Dashboard</a:t>
            </a:r>
            <a:endParaRPr lang="en-US" sz="1800" dirty="0"/>
          </a:p>
        </p:txBody>
      </p:sp>
      <p:sp>
        <p:nvSpPr>
          <p:cNvPr id="6" name="Text 4"/>
          <p:cNvSpPr/>
          <p:nvPr/>
        </p:nvSpPr>
        <p:spPr>
          <a:xfrm>
            <a:off x="1041400" y="2197035"/>
            <a:ext cx="211258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Income, expenses, profit, chart</a:t>
            </a:r>
            <a:endParaRPr lang="en-US" sz="1400" dirty="0"/>
          </a:p>
        </p:txBody>
      </p:sp>
      <p:sp>
        <p:nvSpPr>
          <p:cNvPr id="7" name="Shape 5"/>
          <p:cNvSpPr/>
          <p:nvPr/>
        </p:nvSpPr>
        <p:spPr>
          <a:xfrm>
            <a:off x="3498850" y="1567129"/>
            <a:ext cx="2508250" cy="1338461"/>
          </a:xfrm>
          <a:prstGeom prst="roundRect">
            <a:avLst>
              <a:gd name="adj" fmla="val 9489"/>
            </a:avLst>
          </a:prstGeom>
          <a:solidFill>
            <a:srgbClr val="FFFFFF"/>
          </a:solidFill>
          <a:ln/>
        </p:spPr>
      </p:sp>
      <p:sp>
        <p:nvSpPr>
          <p:cNvPr id="8" name="Shape 6"/>
          <p:cNvSpPr/>
          <p:nvPr/>
        </p:nvSpPr>
        <p:spPr>
          <a:xfrm>
            <a:off x="3498850" y="1567129"/>
            <a:ext cx="2508250" cy="1338461"/>
          </a:xfrm>
          <a:custGeom>
            <a:avLst/>
            <a:gdLst/>
            <a:ahLst/>
            <a:cxnLst/>
            <a:rect l="l" t="t" r="r" b="b"/>
            <a:pathLst>
              <a:path w="2508250" h="1338461">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14B8A6"/>
          </a:solidFill>
          <a:ln/>
        </p:spPr>
      </p:sp>
      <p:sp>
        <p:nvSpPr>
          <p:cNvPr id="9" name="Text 7"/>
          <p:cNvSpPr/>
          <p:nvPr/>
        </p:nvSpPr>
        <p:spPr>
          <a:xfrm>
            <a:off x="3727450" y="1846529"/>
            <a:ext cx="211258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2 · Chat</a:t>
            </a:r>
            <a:endParaRPr lang="en-US" sz="1800" dirty="0"/>
          </a:p>
        </p:txBody>
      </p:sp>
      <p:sp>
        <p:nvSpPr>
          <p:cNvPr id="10" name="Text 8"/>
          <p:cNvSpPr/>
          <p:nvPr/>
        </p:nvSpPr>
        <p:spPr>
          <a:xfrm>
            <a:off x="3727450" y="2197035"/>
            <a:ext cx="211258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Record “I sold fabric for 1500 rupees”</a:t>
            </a:r>
            <a:endParaRPr lang="en-US" sz="1400" dirty="0"/>
          </a:p>
        </p:txBody>
      </p:sp>
      <p:sp>
        <p:nvSpPr>
          <p:cNvPr id="11" name="Shape 9"/>
          <p:cNvSpPr/>
          <p:nvPr/>
        </p:nvSpPr>
        <p:spPr>
          <a:xfrm>
            <a:off x="6184900" y="1567129"/>
            <a:ext cx="2508250" cy="1338461"/>
          </a:xfrm>
          <a:prstGeom prst="roundRect">
            <a:avLst>
              <a:gd name="adj" fmla="val 9489"/>
            </a:avLst>
          </a:prstGeom>
          <a:solidFill>
            <a:srgbClr val="FFFFFF"/>
          </a:solidFill>
          <a:ln/>
        </p:spPr>
      </p:sp>
      <p:sp>
        <p:nvSpPr>
          <p:cNvPr id="12" name="Shape 10"/>
          <p:cNvSpPr/>
          <p:nvPr/>
        </p:nvSpPr>
        <p:spPr>
          <a:xfrm>
            <a:off x="6184900" y="1567129"/>
            <a:ext cx="2508250" cy="1338461"/>
          </a:xfrm>
          <a:custGeom>
            <a:avLst/>
            <a:gdLst/>
            <a:ahLst/>
            <a:cxnLst/>
            <a:rect l="l" t="t" r="r" b="b"/>
            <a:pathLst>
              <a:path w="2508250" h="1338461">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14B8A6"/>
          </a:solidFill>
          <a:ln/>
        </p:spPr>
      </p:sp>
      <p:sp>
        <p:nvSpPr>
          <p:cNvPr id="13" name="Text 11"/>
          <p:cNvSpPr/>
          <p:nvPr/>
        </p:nvSpPr>
        <p:spPr>
          <a:xfrm>
            <a:off x="6413500" y="1846529"/>
            <a:ext cx="211258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3 · Voice</a:t>
            </a:r>
            <a:endParaRPr lang="en-US" sz="1800" dirty="0"/>
          </a:p>
        </p:txBody>
      </p:sp>
      <p:sp>
        <p:nvSpPr>
          <p:cNvPr id="14" name="Text 12"/>
          <p:cNvSpPr/>
          <p:nvPr/>
        </p:nvSpPr>
        <p:spPr>
          <a:xfrm>
            <a:off x="6413500" y="2197035"/>
            <a:ext cx="211258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Record, then show the transcript</a:t>
            </a:r>
            <a:endParaRPr lang="en-US" sz="1400" dirty="0"/>
          </a:p>
        </p:txBody>
      </p:sp>
      <p:sp>
        <p:nvSpPr>
          <p:cNvPr id="15" name="Shape 13"/>
          <p:cNvSpPr/>
          <p:nvPr/>
        </p:nvSpPr>
        <p:spPr>
          <a:xfrm>
            <a:off x="8870950" y="1567129"/>
            <a:ext cx="2508250" cy="1338461"/>
          </a:xfrm>
          <a:prstGeom prst="roundRect">
            <a:avLst>
              <a:gd name="adj" fmla="val 9489"/>
            </a:avLst>
          </a:prstGeom>
          <a:solidFill>
            <a:srgbClr val="FFFFFF"/>
          </a:solidFill>
          <a:ln/>
        </p:spPr>
      </p:sp>
      <p:sp>
        <p:nvSpPr>
          <p:cNvPr id="16" name="Shape 14"/>
          <p:cNvSpPr/>
          <p:nvPr/>
        </p:nvSpPr>
        <p:spPr>
          <a:xfrm>
            <a:off x="8870950" y="1567129"/>
            <a:ext cx="2508250" cy="1338461"/>
          </a:xfrm>
          <a:custGeom>
            <a:avLst/>
            <a:gdLst/>
            <a:ahLst/>
            <a:cxnLst/>
            <a:rect l="l" t="t" r="r" b="b"/>
            <a:pathLst>
              <a:path w="2508250" h="1338461">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14B8A6"/>
          </a:solidFill>
          <a:ln/>
        </p:spPr>
      </p:sp>
      <p:sp>
        <p:nvSpPr>
          <p:cNvPr id="17" name="Text 15"/>
          <p:cNvSpPr/>
          <p:nvPr/>
        </p:nvSpPr>
        <p:spPr>
          <a:xfrm>
            <a:off x="9099550" y="1846529"/>
            <a:ext cx="211258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F"/>
                </a:solidFill>
                <a:latin typeface="Poppins" pitchFamily="34" charset="0"/>
                <a:ea typeface="Poppins" pitchFamily="34" charset="-122"/>
                <a:cs typeface="Poppins" pitchFamily="34" charset="-120"/>
              </a:rPr>
              <a:t>4 · Reports</a:t>
            </a:r>
            <a:endParaRPr lang="en-US" sz="1800" dirty="0"/>
          </a:p>
        </p:txBody>
      </p:sp>
      <p:sp>
        <p:nvSpPr>
          <p:cNvPr id="18" name="Text 16"/>
          <p:cNvSpPr/>
          <p:nvPr/>
        </p:nvSpPr>
        <p:spPr>
          <a:xfrm>
            <a:off x="9099550" y="2197035"/>
            <a:ext cx="211258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856"/>
                </a:solidFill>
                <a:latin typeface="Poppins" pitchFamily="34" charset="0"/>
                <a:ea typeface="Poppins" pitchFamily="34" charset="-122"/>
                <a:cs typeface="Poppins" pitchFamily="34" charset="-120"/>
              </a:rPr>
              <a:t>Filter, edit, delete, date-range report</a:t>
            </a:r>
            <a:endParaRPr lang="en-US" sz="1400" dirty="0"/>
          </a:p>
        </p:txBody>
      </p:sp>
      <p:sp>
        <p:nvSpPr>
          <p:cNvPr id="19" name="Text 17"/>
          <p:cNvSpPr/>
          <p:nvPr/>
        </p:nvSpPr>
        <p:spPr>
          <a:xfrm>
            <a:off x="812800" y="318499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773"/>
                </a:solidFill>
                <a:latin typeface="Poppins" pitchFamily="34" charset="0"/>
                <a:ea typeface="Poppins" pitchFamily="34" charset="-122"/>
                <a:cs typeface="Poppins" pitchFamily="34" charset="-120"/>
              </a:rPr>
              <a:t>Preflight: backend, Qwen model, frontend, microphone, test data</a:t>
            </a:r>
            <a:endParaRPr lang="en-US" sz="1400" dirty="0"/>
          </a:p>
        </p:txBody>
      </p:sp>
      <p:sp>
        <p:nvSpPr>
          <p:cNvPr id="20" name="Text 18"/>
          <p:cNvSpPr/>
          <p:nvPr/>
        </p:nvSpPr>
        <p:spPr>
          <a:xfrm>
            <a:off x="812800" y="6238280"/>
            <a:ext cx="11611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773"/>
                </a:solidFill>
                <a:latin typeface="Poppins" pitchFamily="34" charset="0"/>
                <a:ea typeface="Poppins" pitchFamily="34" charset="-122"/>
                <a:cs typeface="Poppins" pitchFamily="34" charset="-120"/>
              </a:rPr>
              <a:t>HisabBot · 07</a:t>
            </a:r>
            <a:endParaRPr lang="en-US" sz="1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0327"/>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F4F1EA"/>
                </a:solidFill>
                <a:latin typeface="Poppins" pitchFamily="34" charset="0"/>
                <a:ea typeface="Poppins" pitchFamily="34" charset="-122"/>
                <a:cs typeface="Poppins" pitchFamily="34" charset="-120"/>
              </a:rPr>
              <a:t>Security Controls</a:t>
            </a:r>
            <a:endParaRPr lang="en-US" sz="3400" dirty="0"/>
          </a:p>
        </p:txBody>
      </p:sp>
      <p:sp>
        <p:nvSpPr>
          <p:cNvPr id="3" name="Shape 1"/>
          <p:cNvSpPr/>
          <p:nvPr/>
        </p:nvSpPr>
        <p:spPr>
          <a:xfrm>
            <a:off x="812800" y="1567129"/>
            <a:ext cx="3403600" cy="1338461"/>
          </a:xfrm>
          <a:prstGeom prst="roundRect">
            <a:avLst>
              <a:gd name="adj" fmla="val 9489"/>
            </a:avLst>
          </a:prstGeom>
          <a:solidFill>
            <a:srgbClr val="1A2C45"/>
          </a:solidFill>
          <a:ln/>
        </p:spPr>
      </p:sp>
      <p:sp>
        <p:nvSpPr>
          <p:cNvPr id="4" name="Shape 2"/>
          <p:cNvSpPr/>
          <p:nvPr/>
        </p:nvSpPr>
        <p:spPr>
          <a:xfrm>
            <a:off x="812800" y="1567129"/>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5" name="Text 3"/>
          <p:cNvSpPr/>
          <p:nvPr/>
        </p:nvSpPr>
        <p:spPr>
          <a:xfrm>
            <a:off x="1041400" y="1846529"/>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Origin control</a:t>
            </a:r>
            <a:endParaRPr lang="en-US" sz="1800" dirty="0"/>
          </a:p>
        </p:txBody>
      </p:sp>
      <p:sp>
        <p:nvSpPr>
          <p:cNvPr id="6" name="Text 4"/>
          <p:cNvSpPr/>
          <p:nvPr/>
        </p:nvSpPr>
        <p:spPr>
          <a:xfrm>
            <a:off x="1041400" y="2197035"/>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CORS limited to configured local frontends</a:t>
            </a:r>
            <a:endParaRPr lang="en-US" sz="1400" dirty="0"/>
          </a:p>
        </p:txBody>
      </p:sp>
      <p:sp>
        <p:nvSpPr>
          <p:cNvPr id="7" name="Shape 5"/>
          <p:cNvSpPr/>
          <p:nvPr/>
        </p:nvSpPr>
        <p:spPr>
          <a:xfrm>
            <a:off x="4394200" y="1567129"/>
            <a:ext cx="3403600" cy="1338461"/>
          </a:xfrm>
          <a:prstGeom prst="roundRect">
            <a:avLst>
              <a:gd name="adj" fmla="val 9489"/>
            </a:avLst>
          </a:prstGeom>
          <a:solidFill>
            <a:srgbClr val="1A2C45"/>
          </a:solidFill>
          <a:ln/>
        </p:spPr>
      </p:sp>
      <p:sp>
        <p:nvSpPr>
          <p:cNvPr id="8" name="Shape 6"/>
          <p:cNvSpPr/>
          <p:nvPr/>
        </p:nvSpPr>
        <p:spPr>
          <a:xfrm>
            <a:off x="4394200" y="1567129"/>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9" name="Text 7"/>
          <p:cNvSpPr/>
          <p:nvPr/>
        </p:nvSpPr>
        <p:spPr>
          <a:xfrm>
            <a:off x="4622800" y="1846529"/>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Rate limits</a:t>
            </a:r>
            <a:endParaRPr lang="en-US" sz="1800" dirty="0"/>
          </a:p>
        </p:txBody>
      </p:sp>
      <p:sp>
        <p:nvSpPr>
          <p:cNvPr id="10" name="Text 8"/>
          <p:cNvSpPr/>
          <p:nvPr/>
        </p:nvSpPr>
        <p:spPr>
          <a:xfrm>
            <a:off x="4622800" y="2197035"/>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API 120/min, chat 20/min, audio 5/min</a:t>
            </a:r>
            <a:endParaRPr lang="en-US" sz="1400" dirty="0"/>
          </a:p>
        </p:txBody>
      </p:sp>
      <p:sp>
        <p:nvSpPr>
          <p:cNvPr id="11" name="Shape 9"/>
          <p:cNvSpPr/>
          <p:nvPr/>
        </p:nvSpPr>
        <p:spPr>
          <a:xfrm>
            <a:off x="7975600" y="1567129"/>
            <a:ext cx="3403600" cy="1338461"/>
          </a:xfrm>
          <a:prstGeom prst="roundRect">
            <a:avLst>
              <a:gd name="adj" fmla="val 9489"/>
            </a:avLst>
          </a:prstGeom>
          <a:solidFill>
            <a:srgbClr val="1A2C45"/>
          </a:solidFill>
          <a:ln/>
        </p:spPr>
      </p:sp>
      <p:sp>
        <p:nvSpPr>
          <p:cNvPr id="12" name="Shape 10"/>
          <p:cNvSpPr/>
          <p:nvPr/>
        </p:nvSpPr>
        <p:spPr>
          <a:xfrm>
            <a:off x="7975600" y="1567129"/>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13" name="Text 11"/>
          <p:cNvSpPr/>
          <p:nvPr/>
        </p:nvSpPr>
        <p:spPr>
          <a:xfrm>
            <a:off x="8204200" y="1846529"/>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Payload limits</a:t>
            </a:r>
            <a:endParaRPr lang="en-US" sz="1800" dirty="0"/>
          </a:p>
        </p:txBody>
      </p:sp>
      <p:sp>
        <p:nvSpPr>
          <p:cNvPr id="14" name="Text 12"/>
          <p:cNvSpPr/>
          <p:nvPr/>
        </p:nvSpPr>
        <p:spPr>
          <a:xfrm>
            <a:off x="8204200" y="2197035"/>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JSON 16 KB, chat 2,000 chars, audio 10 MB</a:t>
            </a:r>
            <a:endParaRPr lang="en-US" sz="1400" dirty="0"/>
          </a:p>
        </p:txBody>
      </p:sp>
      <p:sp>
        <p:nvSpPr>
          <p:cNvPr id="15" name="Shape 13"/>
          <p:cNvSpPr/>
          <p:nvPr/>
        </p:nvSpPr>
        <p:spPr>
          <a:xfrm>
            <a:off x="812800" y="3083390"/>
            <a:ext cx="3403600" cy="1338461"/>
          </a:xfrm>
          <a:prstGeom prst="roundRect">
            <a:avLst>
              <a:gd name="adj" fmla="val 9489"/>
            </a:avLst>
          </a:prstGeom>
          <a:solidFill>
            <a:srgbClr val="1A2C45"/>
          </a:solidFill>
          <a:ln/>
        </p:spPr>
      </p:sp>
      <p:sp>
        <p:nvSpPr>
          <p:cNvPr id="16" name="Shape 14"/>
          <p:cNvSpPr/>
          <p:nvPr/>
        </p:nvSpPr>
        <p:spPr>
          <a:xfrm>
            <a:off x="812800" y="3083390"/>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17" name="Text 15"/>
          <p:cNvSpPr/>
          <p:nvPr/>
        </p:nvSpPr>
        <p:spPr>
          <a:xfrm>
            <a:off x="1041400" y="3362790"/>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Validation</a:t>
            </a:r>
            <a:endParaRPr lang="en-US" sz="1800" dirty="0"/>
          </a:p>
        </p:txBody>
      </p:sp>
      <p:sp>
        <p:nvSpPr>
          <p:cNvPr id="18" name="Text 16"/>
          <p:cNvSpPr/>
          <p:nvPr/>
        </p:nvSpPr>
        <p:spPr>
          <a:xfrm>
            <a:off x="1041400" y="3713296"/>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Enum type, positive integer amount, prepared SQL</a:t>
            </a:r>
            <a:endParaRPr lang="en-US" sz="1400" dirty="0"/>
          </a:p>
        </p:txBody>
      </p:sp>
      <p:sp>
        <p:nvSpPr>
          <p:cNvPr id="19" name="Shape 17"/>
          <p:cNvSpPr/>
          <p:nvPr/>
        </p:nvSpPr>
        <p:spPr>
          <a:xfrm>
            <a:off x="4394200" y="3083390"/>
            <a:ext cx="3403600" cy="1338461"/>
          </a:xfrm>
          <a:prstGeom prst="roundRect">
            <a:avLst>
              <a:gd name="adj" fmla="val 9489"/>
            </a:avLst>
          </a:prstGeom>
          <a:solidFill>
            <a:srgbClr val="1A2C45"/>
          </a:solidFill>
          <a:ln/>
        </p:spPr>
      </p:sp>
      <p:sp>
        <p:nvSpPr>
          <p:cNvPr id="20" name="Shape 18"/>
          <p:cNvSpPr/>
          <p:nvPr/>
        </p:nvSpPr>
        <p:spPr>
          <a:xfrm>
            <a:off x="4394200" y="3083390"/>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21" name="Text 19"/>
          <p:cNvSpPr/>
          <p:nvPr/>
        </p:nvSpPr>
        <p:spPr>
          <a:xfrm>
            <a:off x="4622800" y="3362790"/>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AI allowlist</a:t>
            </a:r>
            <a:endParaRPr lang="en-US" sz="1800" dirty="0"/>
          </a:p>
        </p:txBody>
      </p:sp>
      <p:sp>
        <p:nvSpPr>
          <p:cNvPr id="22" name="Text 20"/>
          <p:cNvSpPr/>
          <p:nvPr/>
        </p:nvSpPr>
        <p:spPr>
          <a:xfrm>
            <a:off x="4622800" y="3713296"/>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Predefined tools only, max 5 tool rounds</a:t>
            </a:r>
            <a:endParaRPr lang="en-US" sz="1400" dirty="0"/>
          </a:p>
        </p:txBody>
      </p:sp>
      <p:sp>
        <p:nvSpPr>
          <p:cNvPr id="23" name="Shape 21"/>
          <p:cNvSpPr/>
          <p:nvPr/>
        </p:nvSpPr>
        <p:spPr>
          <a:xfrm>
            <a:off x="7975600" y="3083390"/>
            <a:ext cx="3403600" cy="1338461"/>
          </a:xfrm>
          <a:prstGeom prst="roundRect">
            <a:avLst>
              <a:gd name="adj" fmla="val 9489"/>
            </a:avLst>
          </a:prstGeom>
          <a:solidFill>
            <a:srgbClr val="1A2C45"/>
          </a:solidFill>
          <a:ln/>
        </p:spPr>
      </p:sp>
      <p:sp>
        <p:nvSpPr>
          <p:cNvPr id="24" name="Shape 22"/>
          <p:cNvSpPr/>
          <p:nvPr/>
        </p:nvSpPr>
        <p:spPr>
          <a:xfrm>
            <a:off x="7975600" y="3083390"/>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25" name="Text 23"/>
          <p:cNvSpPr/>
          <p:nvPr/>
        </p:nvSpPr>
        <p:spPr>
          <a:xfrm>
            <a:off x="8204200" y="3362790"/>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Safe handling</a:t>
            </a:r>
            <a:endParaRPr lang="en-US" sz="1800" dirty="0"/>
          </a:p>
        </p:txBody>
      </p:sp>
      <p:sp>
        <p:nvSpPr>
          <p:cNvPr id="26" name="Text 24"/>
          <p:cNvSpPr/>
          <p:nvPr/>
        </p:nvSpPr>
        <p:spPr>
          <a:xfrm>
            <a:off x="8204200" y="3713296"/>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Generic errors, temp audio cleanup, binds to 127.0.0.1</a:t>
            </a:r>
            <a:endParaRPr lang="en-US" sz="1400" dirty="0"/>
          </a:p>
        </p:txBody>
      </p:sp>
      <p:sp>
        <p:nvSpPr>
          <p:cNvPr id="27" name="Text 25"/>
          <p:cNvSpPr/>
          <p:nvPr/>
        </p:nvSpPr>
        <p:spPr>
          <a:xfrm>
            <a:off x="812800" y="6238280"/>
            <a:ext cx="11766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3"/>
                </a:solidFill>
                <a:latin typeface="Poppins" pitchFamily="34" charset="0"/>
                <a:ea typeface="Poppins" pitchFamily="34" charset="-122"/>
                <a:cs typeface="Poppins" pitchFamily="34" charset="-120"/>
              </a:rPr>
              <a:t>HisabBot · 08</a:t>
            </a:r>
            <a:endParaRPr lang="en-US" sz="1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0327"/>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202F"/>
                </a:solidFill>
                <a:latin typeface="Poppins" pitchFamily="34" charset="0"/>
                <a:ea typeface="Poppins" pitchFamily="34" charset="-122"/>
                <a:cs typeface="Poppins" pitchFamily="34" charset="-120"/>
              </a:rPr>
              <a:t>Limitations &amp; Next Steps</a:t>
            </a:r>
            <a:endParaRPr lang="en-US" sz="3400" dirty="0"/>
          </a:p>
        </p:txBody>
      </p:sp>
      <p:sp>
        <p:nvSpPr>
          <p:cNvPr id="3" name="Shape 1"/>
          <p:cNvSpPr/>
          <p:nvPr/>
        </p:nvSpPr>
        <p:spPr>
          <a:xfrm>
            <a:off x="812800" y="1567129"/>
            <a:ext cx="5194300" cy="1986029"/>
          </a:xfrm>
          <a:prstGeom prst="roundRect">
            <a:avLst>
              <a:gd name="adj" fmla="val 6395"/>
            </a:avLst>
          </a:prstGeom>
          <a:solidFill>
            <a:srgbClr val="FFFFFF"/>
          </a:solidFill>
          <a:ln/>
        </p:spPr>
      </p:sp>
      <p:sp>
        <p:nvSpPr>
          <p:cNvPr id="4" name="Shape 2"/>
          <p:cNvSpPr/>
          <p:nvPr/>
        </p:nvSpPr>
        <p:spPr>
          <a:xfrm>
            <a:off x="812800" y="1567129"/>
            <a:ext cx="5194300" cy="1986029"/>
          </a:xfrm>
          <a:custGeom>
            <a:avLst/>
            <a:gdLst/>
            <a:ahLst/>
            <a:cxnLst/>
            <a:rect l="l" t="t" r="r" b="b"/>
            <a:pathLst>
              <a:path w="5194300" h="1986029">
                <a:moveTo>
                  <a:pt x="0" y="127000"/>
                </a:moveTo>
                <a:lnTo>
                  <a:pt x="0" y="127000"/>
                </a:lnTo>
                <a:arcTo wR="127000" hR="127000" stAng="10800000" swAng="5400000"/>
                <a:lnTo>
                  <a:pt x="5067300" y="0"/>
                </a:lnTo>
                <a:arcTo wR="127000" hR="127000" stAng="16200000" swAng="5400000"/>
                <a:lnTo>
                  <a:pt x="5194300" y="127000"/>
                </a:lnTo>
                <a:arcTo wR="127000" hR="76200" stAng="0" swAng="-5400000"/>
                <a:lnTo>
                  <a:pt x="127000" y="50800"/>
                </a:lnTo>
                <a:arcTo wR="127000" hR="76200" stAng="16200000" swAng="-5400000"/>
                <a:close/>
              </a:path>
            </a:pathLst>
          </a:custGeom>
          <a:solidFill>
            <a:srgbClr val="F2B544"/>
          </a:solidFill>
          <a:ln/>
        </p:spPr>
      </p:sp>
      <p:sp>
        <p:nvSpPr>
          <p:cNvPr id="5" name="Text 3"/>
          <p:cNvSpPr/>
          <p:nvPr/>
        </p:nvSpPr>
        <p:spPr>
          <a:xfrm>
            <a:off x="1066800" y="1871929"/>
            <a:ext cx="4826889"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2202F"/>
                </a:solidFill>
                <a:latin typeface="Poppins" pitchFamily="34" charset="0"/>
                <a:ea typeface="Poppins" pitchFamily="34" charset="-122"/>
                <a:cs typeface="Poppins" pitchFamily="34" charset="-120"/>
              </a:rPr>
              <a:t>Today</a:t>
            </a:r>
            <a:endParaRPr lang="en-US" sz="1900" dirty="0"/>
          </a:p>
        </p:txBody>
      </p:sp>
      <p:sp>
        <p:nvSpPr>
          <p:cNvPr id="6" name="Text 4"/>
          <p:cNvSpPr/>
          <p:nvPr/>
        </p:nvSpPr>
        <p:spPr>
          <a:xfrm>
            <a:off x="1099058" y="2161449"/>
            <a:ext cx="4787773" cy="1163108"/>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3A4856"/>
                </a:solidFill>
                <a:latin typeface="Poppins" pitchFamily="34" charset="0"/>
                <a:ea typeface="Poppins" pitchFamily="34" charset="-122"/>
                <a:cs typeface="Poppins" pitchFamily="34" charset="-120"/>
              </a:rPr>
              <a:t>Chat needs local Qwen running</a:t>
            </a:r>
            <a:endParaRPr lang="en-US" sz="1600" dirty="0"/>
          </a:p>
          <a:p>
            <a:pPr marL="196342" indent="-196342" algn="l">
              <a:lnSpc>
                <a:spcPts val="2240"/>
              </a:lnSpc>
              <a:buSzPct val="100000"/>
              <a:buChar char="•"/>
            </a:pPr>
            <a:r>
              <a:rPr lang="en-US" sz="1600" dirty="0">
                <a:solidFill>
                  <a:srgbClr val="3A4856"/>
                </a:solidFill>
                <a:latin typeface="Poppins" pitchFamily="34" charset="0"/>
                <a:ea typeface="Poppins" pitchFamily="34" charset="-122"/>
                <a:cs typeface="Poppins" pitchFamily="34" charset="-120"/>
              </a:rPr>
              <a:t>Voice needs Whisper and FFmpeg</a:t>
            </a:r>
            <a:endParaRPr lang="en-US" sz="1600" dirty="0"/>
          </a:p>
          <a:p>
            <a:pPr marL="196342" indent="-196342" algn="l">
              <a:lnSpc>
                <a:spcPts val="2240"/>
              </a:lnSpc>
              <a:buSzPct val="100000"/>
              <a:buChar char="•"/>
            </a:pPr>
            <a:r>
              <a:rPr lang="en-US" sz="1600" dirty="0">
                <a:solidFill>
                  <a:srgbClr val="3A4856"/>
                </a:solidFill>
                <a:latin typeface="Poppins" pitchFamily="34" charset="0"/>
                <a:ea typeface="Poppins" pitchFamily="34" charset="-122"/>
                <a:cs typeface="Poppins" pitchFamily="34" charset="-120"/>
              </a:rPr>
              <a:t>No authentication yet</a:t>
            </a:r>
            <a:endParaRPr lang="en-US" sz="1600" dirty="0"/>
          </a:p>
          <a:p>
            <a:pPr marL="196342" indent="-196342" algn="l">
              <a:lnSpc>
                <a:spcPts val="2240"/>
              </a:lnSpc>
              <a:buSzPct val="100000"/>
              <a:buChar char="•"/>
            </a:pPr>
            <a:r>
              <a:rPr lang="en-US" sz="1600" dirty="0">
                <a:solidFill>
                  <a:srgbClr val="3A4856"/>
                </a:solidFill>
                <a:latin typeface="Poppins" pitchFamily="34" charset="0"/>
                <a:ea typeface="Poppins" pitchFamily="34" charset="-122"/>
                <a:cs typeface="Poppins" pitchFamily="34" charset="-120"/>
              </a:rPr>
              <a:t>Chat history in browser storage</a:t>
            </a:r>
            <a:endParaRPr lang="en-US" sz="1600" dirty="0"/>
          </a:p>
        </p:txBody>
      </p:sp>
      <p:sp>
        <p:nvSpPr>
          <p:cNvPr id="7" name="Shape 5"/>
          <p:cNvSpPr/>
          <p:nvPr/>
        </p:nvSpPr>
        <p:spPr>
          <a:xfrm>
            <a:off x="6184900" y="1567129"/>
            <a:ext cx="5194300" cy="1986029"/>
          </a:xfrm>
          <a:prstGeom prst="roundRect">
            <a:avLst>
              <a:gd name="adj" fmla="val 6395"/>
            </a:avLst>
          </a:prstGeom>
          <a:solidFill>
            <a:srgbClr val="FFFFFF"/>
          </a:solidFill>
          <a:ln/>
        </p:spPr>
      </p:sp>
      <p:sp>
        <p:nvSpPr>
          <p:cNvPr id="8" name="Shape 6"/>
          <p:cNvSpPr/>
          <p:nvPr/>
        </p:nvSpPr>
        <p:spPr>
          <a:xfrm>
            <a:off x="6184900" y="1567129"/>
            <a:ext cx="5194300" cy="1986029"/>
          </a:xfrm>
          <a:custGeom>
            <a:avLst/>
            <a:gdLst/>
            <a:ahLst/>
            <a:cxnLst/>
            <a:rect l="l" t="t" r="r" b="b"/>
            <a:pathLst>
              <a:path w="5194300" h="1986029">
                <a:moveTo>
                  <a:pt x="0" y="127000"/>
                </a:moveTo>
                <a:lnTo>
                  <a:pt x="0" y="127000"/>
                </a:lnTo>
                <a:arcTo wR="127000" hR="127000" stAng="10800000" swAng="5400000"/>
                <a:lnTo>
                  <a:pt x="5067300" y="0"/>
                </a:lnTo>
                <a:arcTo wR="127000" hR="127000" stAng="16200000" swAng="5400000"/>
                <a:lnTo>
                  <a:pt x="5194300" y="127000"/>
                </a:lnTo>
                <a:arcTo wR="127000" hR="76200" stAng="0" swAng="-5400000"/>
                <a:lnTo>
                  <a:pt x="127000" y="50800"/>
                </a:lnTo>
                <a:arcTo wR="127000" hR="76200" stAng="16200000" swAng="-5400000"/>
                <a:close/>
              </a:path>
            </a:pathLst>
          </a:custGeom>
          <a:solidFill>
            <a:srgbClr val="14B8A6"/>
          </a:solidFill>
          <a:ln/>
        </p:spPr>
      </p:sp>
      <p:sp>
        <p:nvSpPr>
          <p:cNvPr id="9" name="Text 7"/>
          <p:cNvSpPr/>
          <p:nvPr/>
        </p:nvSpPr>
        <p:spPr>
          <a:xfrm>
            <a:off x="6438900" y="1871929"/>
            <a:ext cx="4826889"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2202F"/>
                </a:solidFill>
                <a:latin typeface="Poppins" pitchFamily="34" charset="0"/>
                <a:ea typeface="Poppins" pitchFamily="34" charset="-122"/>
                <a:cs typeface="Poppins" pitchFamily="34" charset="-120"/>
              </a:rPr>
              <a:t>Next</a:t>
            </a:r>
            <a:endParaRPr lang="en-US" sz="1900" dirty="0"/>
          </a:p>
        </p:txBody>
      </p:sp>
      <p:sp>
        <p:nvSpPr>
          <p:cNvPr id="10" name="Text 8"/>
          <p:cNvSpPr/>
          <p:nvPr/>
        </p:nvSpPr>
        <p:spPr>
          <a:xfrm>
            <a:off x="6471158" y="2161449"/>
            <a:ext cx="4787773" cy="1163108"/>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3A4856"/>
                </a:solidFill>
                <a:latin typeface="Poppins" pitchFamily="34" charset="0"/>
                <a:ea typeface="Poppins" pitchFamily="34" charset="-122"/>
                <a:cs typeface="Poppins" pitchFamily="34" charset="-120"/>
              </a:rPr>
              <a:t>Authentication and per-user access</a:t>
            </a:r>
            <a:endParaRPr lang="en-US" sz="1600" dirty="0"/>
          </a:p>
          <a:p>
            <a:pPr marL="196342" indent="-196342" algn="l">
              <a:lnSpc>
                <a:spcPts val="2240"/>
              </a:lnSpc>
              <a:buSzPct val="100000"/>
              <a:buChar char="•"/>
            </a:pPr>
            <a:r>
              <a:rPr lang="en-US" sz="1600" dirty="0">
                <a:solidFill>
                  <a:srgbClr val="3A4856"/>
                </a:solidFill>
                <a:latin typeface="Poppins" pitchFamily="34" charset="0"/>
                <a:ea typeface="Poppins" pitchFamily="34" charset="-122"/>
                <a:cs typeface="Poppins" pitchFamily="34" charset="-120"/>
              </a:rPr>
              <a:t>Automated API and security tests</a:t>
            </a:r>
            <a:endParaRPr lang="en-US" sz="1600" dirty="0"/>
          </a:p>
          <a:p>
            <a:pPr marL="196342" indent="-196342" algn="l">
              <a:lnSpc>
                <a:spcPts val="2240"/>
              </a:lnSpc>
              <a:buSzPct val="100000"/>
              <a:buChar char="•"/>
            </a:pPr>
            <a:r>
              <a:rPr lang="en-US" sz="1600" dirty="0">
                <a:solidFill>
                  <a:srgbClr val="3A4856"/>
                </a:solidFill>
                <a:latin typeface="Poppins" pitchFamily="34" charset="0"/>
                <a:ea typeface="Poppins" pitchFamily="34" charset="-122"/>
                <a:cs typeface="Poppins" pitchFamily="34" charset="-120"/>
              </a:rPr>
              <a:t>Budget recommendations</a:t>
            </a:r>
            <a:endParaRPr lang="en-US" sz="1600" dirty="0"/>
          </a:p>
          <a:p>
            <a:pPr marL="196342" indent="-196342" algn="l">
              <a:lnSpc>
                <a:spcPts val="2240"/>
              </a:lnSpc>
              <a:buSzPct val="100000"/>
              <a:buChar char="•"/>
            </a:pPr>
            <a:r>
              <a:rPr lang="en-US" sz="1600" dirty="0">
                <a:solidFill>
                  <a:srgbClr val="3A4856"/>
                </a:solidFill>
                <a:latin typeface="Poppins" pitchFamily="34" charset="0"/>
                <a:ea typeface="Poppins" pitchFamily="34" charset="-122"/>
                <a:cs typeface="Poppins" pitchFamily="34" charset="-120"/>
              </a:rPr>
              <a:t>Mobile app and optional cloud sync</a:t>
            </a:r>
            <a:endParaRPr lang="en-US" sz="1600" dirty="0"/>
          </a:p>
        </p:txBody>
      </p:sp>
      <p:sp>
        <p:nvSpPr>
          <p:cNvPr id="11" name="Text 9"/>
          <p:cNvSpPr/>
          <p:nvPr/>
        </p:nvSpPr>
        <p:spPr>
          <a:xfrm>
            <a:off x="812800" y="6238280"/>
            <a:ext cx="1176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773"/>
                </a:solidFill>
                <a:latin typeface="Poppins" pitchFamily="34" charset="0"/>
                <a:ea typeface="Poppins" pitchFamily="34" charset="-122"/>
                <a:cs typeface="Poppins" pitchFamily="34" charset="-120"/>
              </a:rPr>
              <a:t>HisabBot · 09</a:t>
            </a:r>
            <a:endParaRPr lang="en-US" sz="12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E5F5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538089"/>
            <a:ext cx="10883392" cy="136644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4F1EA"/>
                </a:solidFill>
                <a:latin typeface="Poppins" pitchFamily="34" charset="0"/>
                <a:ea typeface="Poppins" pitchFamily="34" charset="-122"/>
                <a:cs typeface="Poppins" pitchFamily="34" charset="-120"/>
              </a:rPr>
              <a:t>Bookkeeping that feels like a conversation</a:t>
            </a:r>
            <a:endParaRPr lang="en-US" sz="4800" dirty="0"/>
          </a:p>
        </p:txBody>
      </p:sp>
      <p:sp>
        <p:nvSpPr>
          <p:cNvPr id="3" name="Shape 1"/>
          <p:cNvSpPr/>
          <p:nvPr/>
        </p:nvSpPr>
        <p:spPr>
          <a:xfrm>
            <a:off x="812800" y="3133130"/>
            <a:ext cx="3403600" cy="1338461"/>
          </a:xfrm>
          <a:prstGeom prst="roundRect">
            <a:avLst>
              <a:gd name="adj" fmla="val 9489"/>
            </a:avLst>
          </a:prstGeom>
          <a:solidFill>
            <a:srgbClr val="0F1B2D"/>
          </a:solidFill>
          <a:ln/>
        </p:spPr>
      </p:sp>
      <p:sp>
        <p:nvSpPr>
          <p:cNvPr id="4" name="Shape 2"/>
          <p:cNvSpPr/>
          <p:nvPr/>
        </p:nvSpPr>
        <p:spPr>
          <a:xfrm>
            <a:off x="812800" y="3133130"/>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5" name="Text 3"/>
          <p:cNvSpPr/>
          <p:nvPr/>
        </p:nvSpPr>
        <p:spPr>
          <a:xfrm>
            <a:off x="1041400" y="3412530"/>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Natural</a:t>
            </a:r>
            <a:endParaRPr lang="en-US" sz="1800" dirty="0"/>
          </a:p>
        </p:txBody>
      </p:sp>
      <p:sp>
        <p:nvSpPr>
          <p:cNvPr id="6" name="Text 4"/>
          <p:cNvSpPr/>
          <p:nvPr/>
        </p:nvSpPr>
        <p:spPr>
          <a:xfrm>
            <a:off x="1041400" y="3763039"/>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Chat and voice in everyday language</a:t>
            </a:r>
            <a:endParaRPr lang="en-US" sz="1400" dirty="0"/>
          </a:p>
        </p:txBody>
      </p:sp>
      <p:sp>
        <p:nvSpPr>
          <p:cNvPr id="7" name="Shape 5"/>
          <p:cNvSpPr/>
          <p:nvPr/>
        </p:nvSpPr>
        <p:spPr>
          <a:xfrm>
            <a:off x="4394200" y="3133130"/>
            <a:ext cx="3403600" cy="1338461"/>
          </a:xfrm>
          <a:prstGeom prst="roundRect">
            <a:avLst>
              <a:gd name="adj" fmla="val 9489"/>
            </a:avLst>
          </a:prstGeom>
          <a:solidFill>
            <a:srgbClr val="0F1B2D"/>
          </a:solidFill>
          <a:ln/>
        </p:spPr>
      </p:sp>
      <p:sp>
        <p:nvSpPr>
          <p:cNvPr id="8" name="Shape 6"/>
          <p:cNvSpPr/>
          <p:nvPr/>
        </p:nvSpPr>
        <p:spPr>
          <a:xfrm>
            <a:off x="4394200" y="3133130"/>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9" name="Text 7"/>
          <p:cNvSpPr/>
          <p:nvPr/>
        </p:nvSpPr>
        <p:spPr>
          <a:xfrm>
            <a:off x="4622800" y="3412530"/>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Traceable</a:t>
            </a:r>
            <a:endParaRPr lang="en-US" sz="1800" dirty="0"/>
          </a:p>
        </p:txBody>
      </p:sp>
      <p:sp>
        <p:nvSpPr>
          <p:cNvPr id="10" name="Text 8"/>
          <p:cNvSpPr/>
          <p:nvPr/>
        </p:nvSpPr>
        <p:spPr>
          <a:xfrm>
            <a:off x="4622800" y="3763039"/>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React → Express → tools → SQLite</a:t>
            </a:r>
            <a:endParaRPr lang="en-US" sz="1400" dirty="0"/>
          </a:p>
        </p:txBody>
      </p:sp>
      <p:sp>
        <p:nvSpPr>
          <p:cNvPr id="11" name="Shape 9"/>
          <p:cNvSpPr/>
          <p:nvPr/>
        </p:nvSpPr>
        <p:spPr>
          <a:xfrm>
            <a:off x="7975600" y="3133130"/>
            <a:ext cx="3403600" cy="1338461"/>
          </a:xfrm>
          <a:prstGeom prst="roundRect">
            <a:avLst>
              <a:gd name="adj" fmla="val 9489"/>
            </a:avLst>
          </a:prstGeom>
          <a:solidFill>
            <a:srgbClr val="0F1B2D"/>
          </a:solidFill>
          <a:ln/>
        </p:spPr>
      </p:sp>
      <p:sp>
        <p:nvSpPr>
          <p:cNvPr id="12" name="Shape 10"/>
          <p:cNvSpPr/>
          <p:nvPr/>
        </p:nvSpPr>
        <p:spPr>
          <a:xfrm>
            <a:off x="7975600" y="3133130"/>
            <a:ext cx="3403600" cy="1338461"/>
          </a:xfrm>
          <a:custGeom>
            <a:avLst/>
            <a:gdLst/>
            <a:ahLst/>
            <a:cxnLst/>
            <a:rect l="l" t="t" r="r" b="b"/>
            <a:pathLst>
              <a:path w="3403600" h="1338461">
                <a:moveTo>
                  <a:pt x="0" y="127000"/>
                </a:moveTo>
                <a:lnTo>
                  <a:pt x="0" y="127000"/>
                </a:lnTo>
                <a:arcTo wR="127000" hR="127000" stAng="10800000" swAng="5400000"/>
                <a:lnTo>
                  <a:pt x="3276600" y="0"/>
                </a:lnTo>
                <a:arcTo wR="127000" hR="127000" stAng="16200000" swAng="5400000"/>
                <a:lnTo>
                  <a:pt x="3403600" y="127000"/>
                </a:lnTo>
                <a:arcTo wR="127000" hR="76200" stAng="0" swAng="-5400000"/>
                <a:lnTo>
                  <a:pt x="127000" y="50800"/>
                </a:lnTo>
                <a:arcTo wR="127000" hR="76200" stAng="16200000" swAng="-5400000"/>
                <a:close/>
              </a:path>
            </a:pathLst>
          </a:custGeom>
          <a:solidFill>
            <a:srgbClr val="F2B544"/>
          </a:solidFill>
          <a:ln/>
        </p:spPr>
      </p:sp>
      <p:sp>
        <p:nvSpPr>
          <p:cNvPr id="13" name="Text 11"/>
          <p:cNvSpPr/>
          <p:nvPr/>
        </p:nvSpPr>
        <p:spPr>
          <a:xfrm>
            <a:off x="8204200" y="3412530"/>
            <a:ext cx="3034792"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Poppins" pitchFamily="34" charset="0"/>
                <a:ea typeface="Poppins" pitchFamily="34" charset="-122"/>
                <a:cs typeface="Poppins" pitchFamily="34" charset="-120"/>
              </a:rPr>
              <a:t>Secure</a:t>
            </a:r>
            <a:endParaRPr lang="en-US" sz="1800" dirty="0"/>
          </a:p>
        </p:txBody>
      </p:sp>
      <p:sp>
        <p:nvSpPr>
          <p:cNvPr id="14" name="Text 12"/>
          <p:cNvSpPr/>
          <p:nvPr/>
        </p:nvSpPr>
        <p:spPr>
          <a:xfrm>
            <a:off x="8204200" y="3763039"/>
            <a:ext cx="3034792"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9D3DF"/>
                </a:solidFill>
                <a:latin typeface="Poppins" pitchFamily="34" charset="0"/>
                <a:ea typeface="Poppins" pitchFamily="34" charset="-122"/>
                <a:cs typeface="Poppins" pitchFamily="34" charset="-120"/>
              </a:rPr>
              <a:t>Validation, limits, restricted AI</a:t>
            </a:r>
            <a:endParaRPr lang="en-US" sz="1400" dirty="0"/>
          </a:p>
        </p:txBody>
      </p:sp>
      <p:sp>
        <p:nvSpPr>
          <p:cNvPr id="15" name="Text 13"/>
          <p:cNvSpPr/>
          <p:nvPr/>
        </p:nvSpPr>
        <p:spPr>
          <a:xfrm>
            <a:off x="812800" y="4725591"/>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2B544"/>
                </a:solidFill>
                <a:latin typeface="Poppins" pitchFamily="34" charset="0"/>
                <a:ea typeface="Poppins" pitchFamily="34" charset="-122"/>
                <a:cs typeface="Poppins" pitchFamily="34" charset="-120"/>
              </a:rPr>
              <a:t>Thank you · Questions?</a:t>
            </a:r>
            <a:endParaRPr lang="en-US" sz="2200" dirty="0"/>
          </a:p>
        </p:txBody>
      </p:sp>
      <p:sp>
        <p:nvSpPr>
          <p:cNvPr id="16" name="Text 14"/>
          <p:cNvSpPr/>
          <p:nvPr/>
        </p:nvSpPr>
        <p:spPr>
          <a:xfrm>
            <a:off x="812800" y="6238280"/>
            <a:ext cx="11198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E6E2"/>
                </a:solidFill>
                <a:latin typeface="Poppins" pitchFamily="34" charset="0"/>
                <a:ea typeface="Poppins" pitchFamily="34" charset="-122"/>
                <a:cs typeface="Poppins" pitchFamily="34" charset="-120"/>
              </a:rPr>
              <a:t>HisabBot · 10</a:t>
            </a:r>
            <a:endParaRPr 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HisabBot — Conversational Bookkeeping">
  <a:themeElements>
    <a:clrScheme name="HisabBot — Conversational Bookkeeping">
      <a:dk1>
        <a:srgbClr val="12202F"/>
      </a:dk1>
      <a:lt1>
        <a:srgbClr val="F6F4EE"/>
      </a:lt1>
      <a:dk2>
        <a:srgbClr val="4B555F"/>
      </a:dk2>
      <a:lt2>
        <a:srgbClr val="DFDFDB"/>
      </a:lt2>
      <a:accent1>
        <a:srgbClr val="F2B544"/>
      </a:accent1>
      <a:accent2>
        <a:srgbClr val="0B7A6E"/>
      </a:accent2>
      <a:accent3>
        <a:srgbClr val="0E5F57"/>
      </a:accent3>
      <a:accent4>
        <a:srgbClr val="3A4856"/>
      </a:accent4>
      <a:accent5>
        <a:srgbClr val="C9D3DF"/>
      </a:accent5>
      <a:accent6>
        <a:srgbClr val="5B6773"/>
      </a:accent6>
      <a:hlink>
        <a:srgbClr val="0563C1"/>
      </a:hlink>
      <a:folHlink>
        <a:srgbClr val="954F72"/>
      </a:folHlink>
    </a:clrScheme>
    <a:fontScheme name="HisabBot — Conversational Bookkeeping">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649</Words>
  <Application>Microsoft Office PowerPoint</Application>
  <PresentationFormat>Widescreen</PresentationFormat>
  <Paragraphs>134</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Poppins</vt:lpstr>
      <vt:lpstr>Calibri</vt:lpstr>
      <vt:lpstr>Arial</vt:lpstr>
      <vt:lpstr>Aptos</vt:lpstr>
      <vt:lpstr>HisabBot — Conversational Bookkeeping</vt:lpstr>
      <vt:lpstr>HisabBot</vt:lpstr>
      <vt:lpstr>The Problem</vt:lpstr>
      <vt:lpstr>Key Features</vt:lpstr>
      <vt:lpstr>Chat + Voice</vt:lpstr>
      <vt:lpstr>System Architecture</vt:lpstr>
      <vt:lpstr>System Architecture</vt:lpstr>
      <vt:lpstr>Transaction Workflow</vt:lpstr>
      <vt:lpstr>Live Demonstration</vt:lpstr>
      <vt:lpstr>Security Controls</vt:lpstr>
      <vt:lpstr>Limitations &amp; Next Steps</vt:lpstr>
      <vt:lpstr>Bookkeeping that feels like a conversation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HisabBot — Conversational Bookkeeping</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Poppins
Copyright 2020 The Poppins Project Authors (https://github.com/itfoundry/Poppins)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Microsoft account</cp:lastModifiedBy>
  <cp:revision>3</cp:revision>
  <dcterms:created xsi:type="dcterms:W3CDTF">2026-10-23T18:26:19Z</dcterms:created>
  <dcterms:modified xsi:type="dcterms:W3CDTF">2026-10-23T18:49:17Z</dcterms:modified>
</cp:coreProperties>
</file>