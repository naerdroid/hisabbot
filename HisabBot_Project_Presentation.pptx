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365760"/>
            <a:ext cx="2743200" cy="2743200"/>
          </a:xfrm>
          <a:prstGeom prst="ellipse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1920240"/>
            <a:ext cx="1920240" cy="1920240"/>
          </a:xfrm>
          <a:prstGeom prst="ellipse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657600"/>
            <a:ext cx="2011680" cy="2011680"/>
          </a:xfrm>
          <a:prstGeom prst="ellipse">
            <a:avLst/>
          </a:prstGeom>
          <a:solidFill>
            <a:srgbClr val="23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7040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3A79B"/>
                </a:solidFill>
                <a:latin typeface="Aptos"/>
              </a:rPr>
              <a:t>AI-POWERED ACCOUNTING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0408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ptos"/>
              </a:rPr>
              <a:t>HisabBot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97480"/>
            <a:ext cx="64008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DBE4F1"/>
                </a:solidFill>
                <a:latin typeface="Aptos"/>
              </a:rPr>
              <a:t>Simplifying everyday bookkeeping
through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5943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Project Demonstration &amp;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87568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C8DE"/>
                </a:solidFill>
                <a:latin typeface="Aptos"/>
              </a:rPr>
              <a:t>System architecture  •  Core features  • 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446520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0B1CA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Why make bookkeeping more conversational?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201168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64008" cy="1792224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745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Manual record-keeping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3090672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1"/>
                </a:solidFill>
                <a:latin typeface="Aptos"/>
              </a:rPr>
              <a:t>Daily sales and expenses can take time to enter and organise.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201168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01368"/>
            <a:ext cx="64008" cy="1792224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Hard to review totals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3090672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1"/>
                </a:solidFill>
                <a:latin typeface="Aptos"/>
              </a:rPr>
              <a:t>Owners may need to search records or calculate totals to understand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74720" cy="201168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01368"/>
            <a:ext cx="64008" cy="1792224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745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Less convenient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090672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1"/>
                </a:solidFill>
                <a:latin typeface="Aptos"/>
              </a:rPr>
              <a:t>Traditional forms can feel cumbersome for quick, everyday entries.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10835640" cy="1234440"/>
          </a:xfrm>
          <a:prstGeom prst="round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40740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3A79B"/>
                </a:solidFill>
                <a:latin typeface="Aptos"/>
              </a:rPr>
              <a:t>OUR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352544"/>
            <a:ext cx="8229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A conversational assistant connected to a web dashboard and persistent transaction storage.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What HisabBot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Core capabilities in the current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74720" cy="160020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73936"/>
            <a:ext cx="64008" cy="1380744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Conversational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3090672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Users describe transactions in natural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64208"/>
            <a:ext cx="3474720" cy="160020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773936"/>
            <a:ext cx="64008" cy="1380744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47088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Income &amp; expenses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90672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Record transaction type, amount, item and payment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64208"/>
            <a:ext cx="3474720" cy="160020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73936"/>
            <a:ext cx="64008" cy="1380744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47088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Transaction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090672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Keep records in a local SQLite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74720" cy="160020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813048"/>
            <a:ext cx="64008" cy="1380744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8620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Dashboard &amp;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25112"/>
            <a:ext cx="3090672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Review financial totals and transaction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703320"/>
            <a:ext cx="3474720" cy="160020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3813048"/>
            <a:ext cx="64008" cy="1380744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88620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Transaction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25112"/>
            <a:ext cx="3090672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Retrieve previously saved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03320"/>
            <a:ext cx="3474720" cy="160020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813048"/>
            <a:ext cx="64008" cy="1380744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88620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Local AI 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325112"/>
            <a:ext cx="3090672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Qwen model served locally through LM Studio.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698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D6B80"/>
                </a:solidFill>
                <a:latin typeface="Aptos"/>
              </a:rPr>
              <a:t>Feature status should be demonstrated in the current build; voice input is not presented as complete unless verified.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Separate layers for interface, application logic, AI and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627632"/>
            <a:ext cx="4937760" cy="914400"/>
          </a:xfrm>
          <a:prstGeom prst="roundRect">
            <a:avLst/>
          </a:prstGeom>
          <a:solidFill>
            <a:srgbClr val="E0EB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21608" y="1755648"/>
            <a:ext cx="471830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Frontend — React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8184" y="2130552"/>
            <a:ext cx="46451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3041"/>
                </a:solidFill>
                <a:latin typeface="Aptos"/>
              </a:rPr>
              <a:t>Chat interface and accounting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971800"/>
            <a:ext cx="4937760" cy="1024128"/>
          </a:xfrm>
          <a:prstGeom prst="roundRect">
            <a:avLst/>
          </a:prstGeom>
          <a:solidFill>
            <a:srgbClr val="DCF5F1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8" y="3099816"/>
            <a:ext cx="471830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Backend — 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3474720"/>
            <a:ext cx="464515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3041"/>
                </a:solidFill>
                <a:latin typeface="Aptos"/>
              </a:rPr>
              <a:t>REST API • validation • chat orchestration • transaction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892040"/>
            <a:ext cx="4114800" cy="960120"/>
          </a:xfrm>
          <a:prstGeom prst="roundRect">
            <a:avLst/>
          </a:prstGeom>
          <a:solidFill>
            <a:srgbClr val="FCF3E0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5020055"/>
            <a:ext cx="38953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Local AI — LM Studio + Qwen 2.5 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5394959"/>
            <a:ext cx="3822191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3041"/>
                </a:solidFill>
                <a:latin typeface="Aptos"/>
              </a:rPr>
              <a:t>Interprets requests and selects available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4892040"/>
            <a:ext cx="4114800" cy="960120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33488" y="5020055"/>
            <a:ext cx="38953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Database — 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5394959"/>
            <a:ext cx="3822191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3041"/>
                </a:solidFill>
                <a:latin typeface="Aptos"/>
              </a:rPr>
              <a:t>Persists income and expense records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542032"/>
            <a:ext cx="0" cy="402336"/>
          </a:xfrm>
          <a:prstGeom prst="line">
            <a:avLst/>
          </a:prstGeom>
          <a:ln w="25400">
            <a:solidFill>
              <a:srgbClr val="2F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108960" y="4005072"/>
            <a:ext cx="1463040" cy="850392"/>
          </a:xfrm>
          <a:prstGeom prst="line">
            <a:avLst/>
          </a:prstGeom>
          <a:ln w="25400">
            <a:solidFill>
              <a:srgbClr val="23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89520" y="4005072"/>
            <a:ext cx="1554480" cy="850392"/>
          </a:xfrm>
          <a:prstGeom prst="line">
            <a:avLst/>
          </a:prstGeom>
          <a:ln w="25400">
            <a:solidFill>
              <a:srgbClr val="23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0" y="258775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D6B80"/>
                </a:solidFill>
                <a:latin typeface="Aptos"/>
              </a:rPr>
              <a:t>HTTP /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016752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D6B80"/>
                </a:solidFill>
                <a:latin typeface="Aptos"/>
              </a:rPr>
              <a:t>The backend executes validated tool calls; the model is not given unrestricted database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How a Transaction Flows Through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Example: “I sold fabric for PKR 1,500 today.”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417320"/>
          </a:xfrm>
          <a:prstGeom prst="roundRect">
            <a:avLst/>
          </a:prstGeom>
          <a:solidFill>
            <a:srgbClr val="E0EB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64008" cy="1197864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745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01  User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Typed in the React chat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91640"/>
            <a:ext cx="3474720" cy="1417320"/>
          </a:xfrm>
          <a:prstGeom prst="roundRect">
            <a:avLst/>
          </a:prstGeom>
          <a:solidFill>
            <a:srgbClr val="DCF5F1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801368"/>
            <a:ext cx="64008" cy="1197864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7" y="18745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02  Express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31343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Receives the request at /api/chat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691640"/>
            <a:ext cx="3474720" cy="1417320"/>
          </a:xfrm>
          <a:prstGeom prst="roundRect">
            <a:avLst/>
          </a:prstGeom>
          <a:solidFill>
            <a:srgbClr val="E0EB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19" y="1801368"/>
            <a:ext cx="64008" cy="1197864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8745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03  Local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31343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Interprets intent and selects an available 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40"/>
            <a:ext cx="3474720" cy="1417320"/>
          </a:xfrm>
          <a:prstGeom prst="roundRect">
            <a:avLst/>
          </a:prstGeom>
          <a:solidFill>
            <a:srgbClr val="DCF5F1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30168"/>
            <a:ext cx="64008" cy="1197864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7033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04  Transaction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14223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Validates arguments and handles the operation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520440"/>
            <a:ext cx="3474720" cy="1417320"/>
          </a:xfrm>
          <a:prstGeom prst="roundRect">
            <a:avLst/>
          </a:prstGeom>
          <a:solidFill>
            <a:srgbClr val="FCF3E0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59" y="3630168"/>
            <a:ext cx="64008" cy="1197864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7" y="37033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05  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414223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Stores the transaction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3520440"/>
            <a:ext cx="3474720" cy="1417320"/>
          </a:xfrm>
          <a:prstGeom prst="roundRect">
            <a:avLst/>
          </a:prstGeom>
          <a:solidFill>
            <a:srgbClr val="E0EB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19" y="3630168"/>
            <a:ext cx="64008" cy="1197864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76488" y="3703320"/>
            <a:ext cx="309067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06  Frontend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14223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Shows the result; history and summary can retrieve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806440"/>
            <a:ext cx="10698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D6B80"/>
                </a:solidFill>
                <a:latin typeface="Aptos"/>
              </a:rPr>
              <a:t>The frontend communicates with the backend over HTTP; the backend controls validation, tool execution and database access.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Show one complete workflow from input to saved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691640"/>
            <a:ext cx="7223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1"/>
                </a:solidFill>
                <a:latin typeface="Aptos"/>
              </a:rPr>
              <a:t>Point out the financial figures and transaction history that are available.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2" y="2258568"/>
            <a:ext cx="0" cy="457200"/>
          </a:xfrm>
          <a:prstGeom prst="line">
            <a:avLst/>
          </a:prstGeom>
          <a:ln w="25400">
            <a:solidFill>
              <a:srgbClr val="D8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" y="2761488"/>
            <a:ext cx="502920" cy="502920"/>
          </a:xfrm>
          <a:prstGeom prst="ellipse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15768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Record 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15768"/>
            <a:ext cx="7223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1"/>
                </a:solidFill>
                <a:latin typeface="Aptos"/>
              </a:rPr>
              <a:t>Enter: “I sold fabric for 1500 rupees today.”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8992" y="3282696"/>
            <a:ext cx="0" cy="457200"/>
          </a:xfrm>
          <a:prstGeom prst="line">
            <a:avLst/>
          </a:prstGeom>
          <a:ln w="25400">
            <a:solidFill>
              <a:srgbClr val="D8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2960" y="3785615"/>
            <a:ext cx="502920" cy="502920"/>
          </a:xfrm>
          <a:prstGeom prst="ellipse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39896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Record expense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739896"/>
            <a:ext cx="7223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1"/>
                </a:solidFill>
                <a:latin typeface="Aptos"/>
              </a:rPr>
              <a:t>Enter: “I spent 500 rupees on packaging.”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78992" y="4306824"/>
            <a:ext cx="0" cy="457200"/>
          </a:xfrm>
          <a:prstGeom prst="line">
            <a:avLst/>
          </a:prstGeom>
          <a:ln w="25400">
            <a:solidFill>
              <a:srgbClr val="D8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" y="4809744"/>
            <a:ext cx="502920" cy="502920"/>
          </a:xfrm>
          <a:prstGeom prst="ellipse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82896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4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Verify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64024"/>
            <a:ext cx="7223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1"/>
                </a:solidFill>
                <a:latin typeface="Aptos"/>
              </a:rPr>
              <a:t>Check transaction history and confirm that the summary matches stored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97880"/>
            <a:ext cx="10652760" cy="384048"/>
          </a:xfrm>
          <a:prstGeom prst="roundRect">
            <a:avLst/>
          </a:prstGeom>
          <a:solidFill>
            <a:srgbClr val="FC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952744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63041"/>
                </a:solidFill>
                <a:latin typeface="Aptos"/>
              </a:rPr>
              <a:t>Use real results from the running application. Avoid claiming a feature works if it has not been tested.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Security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Different controls address different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5166360" cy="1115568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73936"/>
            <a:ext cx="64008" cy="896112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47088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Restricted CORS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478231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Limits browser cross-origin access to configured origins.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166360" cy="1115568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73936"/>
            <a:ext cx="64008" cy="89611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47088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78231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Helps limit excessive request traffic; test for HTTP 429.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166360" cy="1115568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127248"/>
            <a:ext cx="64008" cy="896112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200400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Parameterized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39312"/>
            <a:ext cx="478231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Helps prevent SQL injection by separating data from SQL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17520"/>
            <a:ext cx="5166360" cy="1115568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127248"/>
            <a:ext cx="64008" cy="896112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200400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Input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639312"/>
            <a:ext cx="478231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Rejects or handles invalid transaction fields and tool arguments.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0832"/>
            <a:ext cx="5166360" cy="1115568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480560"/>
            <a:ext cx="64008" cy="89611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553712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Tool restrictions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92624"/>
            <a:ext cx="478231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AI can request predefined operations; backend validates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70832"/>
            <a:ext cx="5166360" cy="1115568"/>
          </a:xfrm>
          <a:prstGeom prst="roundRect">
            <a:avLst/>
          </a:prstGeom>
          <a:solidFill>
            <a:srgbClr val="F2F6FC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480560"/>
            <a:ext cx="64008" cy="896112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4553712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Body-size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992624"/>
            <a:ext cx="478231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1"/>
                </a:solidFill>
                <a:latin typeface="Aptos"/>
              </a:rPr>
              <a:t>Rejects oversized request payloads.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97880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4D4D"/>
                </a:solidFill>
                <a:latin typeface="Aptos"/>
              </a:rPr>
              <a:t>Report only controls verified in the current code. A security measure should be supported by a test result.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How We Validate the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Demonstrate evidence, not just security 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CORS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00200"/>
            <a:ext cx="8412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Send a browser request from an unapproved origin; inspect CORS response headers.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10561320" cy="10972"/>
          </a:xfrm>
          <a:prstGeom prst="rect">
            <a:avLst/>
          </a:prstGeom>
          <a:solidFill>
            <a:srgbClr val="D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95144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Rate limiting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95144"/>
            <a:ext cx="8412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Repeat requests until the configured threshold is reached; check for 429.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98063"/>
            <a:ext cx="10561320" cy="10972"/>
          </a:xfrm>
          <a:prstGeom prst="rect">
            <a:avLst/>
          </a:prstGeom>
          <a:solidFill>
            <a:srgbClr val="D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90088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SQL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90088"/>
            <a:ext cx="8412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Use a harmless injection-style string and confirm it is treated as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93008"/>
            <a:ext cx="10561320" cy="10972"/>
          </a:xfrm>
          <a:prstGeom prst="rect">
            <a:avLst/>
          </a:prstGeom>
          <a:solidFill>
            <a:srgbClr val="D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685032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85032"/>
            <a:ext cx="8412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Try missing, malformed, negative or unsupported transaction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87952"/>
            <a:ext cx="10561320" cy="10972"/>
          </a:xfrm>
          <a:prstGeom prst="rect">
            <a:avLst/>
          </a:prstGeom>
          <a:solidFill>
            <a:srgbClr val="D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379976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Tool restrictions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379976"/>
            <a:ext cx="8412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Try an unsupported request and verify no unintended operation occurs.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82896"/>
            <a:ext cx="10561320" cy="10972"/>
          </a:xfrm>
          <a:prstGeom prst="rect">
            <a:avLst/>
          </a:prstGeom>
          <a:solidFill>
            <a:srgbClr val="D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Payload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74920"/>
            <a:ext cx="8412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1"/>
                </a:solidFill>
                <a:latin typeface="Aptos"/>
              </a:rPr>
              <a:t>Send a request above the configured size and check for an appropriate error.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4D4D"/>
                </a:solidFill>
                <a:latin typeface="Aptos"/>
              </a:rPr>
              <a:t>CORS is not authentication. Local AI does not by itself secure the entire application.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"/>
              </a:rPr>
              <a:t>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80"/>
                </a:solidFill>
                <a:latin typeface="Aptos"/>
              </a:rPr>
              <a:t>A realistic view of the current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6B80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3383280"/>
          </a:xfrm>
          <a:prstGeom prst="roundRect">
            <a:avLst/>
          </a:prstGeom>
          <a:solidFill>
            <a:srgbClr val="FCF3E0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01368"/>
            <a:ext cx="64008" cy="3163824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74520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1F37"/>
                </a:solidFill>
                <a:latin typeface="Aptos"/>
              </a:rPr>
              <a:t>Current considerations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4782312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1"/>
                </a:solidFill>
                <a:latin typeface="Aptos"/>
              </a:rPr>
              <a:t>• Demonstrate only features that work in the current build
• Validate AI-extracted transaction details
• Verify security controls through repeatable tests
• Confirm how the app behaves when the local model is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166360" cy="3383280"/>
          </a:xfrm>
          <a:prstGeom prst="roundRect">
            <a:avLst/>
          </a:prstGeom>
          <a:solidFill>
            <a:srgbClr val="DCF5F1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01368"/>
            <a:ext cx="64008" cy="3163824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20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1F37"/>
                </a:solidFill>
                <a:latin typeface="Aptos"/>
              </a:rPr>
              <a:t>Potential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4782312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1"/>
                </a:solidFill>
                <a:latin typeface="Aptos"/>
              </a:rPr>
              <a:t>• Strong authentication and per-business authorization
• Automated tests for API and security behaviour
• More robust error handling and recovery
• Complete and validate voice input if it remains a project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D6B80"/>
                </a:solidFill>
                <a:latin typeface="Aptos"/>
              </a:rPr>
              <a:t>Do not describe planned or unverified capabilities as completed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AD6E8"/>
                </a:solidFill>
                <a:latin typeface="Aptos"/>
              </a:rPr>
              <a:t>A conversational approach to everyday bookkeeping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658368" cy="50292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FBCC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337560" cy="1965960"/>
          </a:xfrm>
          <a:prstGeom prst="roundRect">
            <a:avLst/>
          </a:prstGeom>
          <a:solidFill>
            <a:srgbClr val="1E2D48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92807"/>
            <a:ext cx="64008" cy="1746504"/>
          </a:xfrm>
          <a:prstGeom prst="rect">
            <a:avLst/>
          </a:prstGeom>
          <a:solidFill>
            <a:srgbClr val="23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29535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Accessible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04872"/>
            <a:ext cx="2953512" cy="1216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1"/>
                </a:solidFill>
                <a:latin typeface="Aptos"/>
              </a:rPr>
              <a:t>Natural-language input for basic transaction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337560" cy="1965960"/>
          </a:xfrm>
          <a:prstGeom prst="roundRect">
            <a:avLst/>
          </a:prstGeom>
          <a:solidFill>
            <a:srgbClr val="1E2D48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92807"/>
            <a:ext cx="64008" cy="1746504"/>
          </a:xfrm>
          <a:prstGeom prst="rect">
            <a:avLst/>
          </a:prstGeom>
          <a:solidFill>
            <a:srgbClr val="2F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65960"/>
            <a:ext cx="29535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Connected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04872"/>
            <a:ext cx="2953512" cy="1216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1"/>
                </a:solidFill>
                <a:latin typeface="Aptos"/>
              </a:rPr>
              <a:t>React, Express, local AI, transaction service and SQLite.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337560" cy="1965960"/>
          </a:xfrm>
          <a:prstGeom prst="roundRect">
            <a:avLst/>
          </a:prstGeom>
          <a:solidFill>
            <a:srgbClr val="1E2D48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92807"/>
            <a:ext cx="64008" cy="1746504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65960"/>
            <a:ext cx="29535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1F37"/>
                </a:solidFill>
                <a:latin typeface="Aptos"/>
              </a:rPr>
              <a:t>Security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04872"/>
            <a:ext cx="2953512" cy="1216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1"/>
                </a:solidFill>
                <a:latin typeface="Aptos"/>
              </a:rPr>
              <a:t>Layered safeguards plus testing and clear limitations.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241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HisabBot provides a foundation for simpler, more conversational bookkeeping.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3A79B"/>
                </a:solidFill>
                <a:latin typeface="Aptos"/>
              </a:rPr>
              <a:t>Thank you  • 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5943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FBCCF"/>
                </a:solidFill>
                <a:latin typeface="Aptos"/>
              </a:rPr>
              <a:t>HISABBOT  • 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862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Mirha</dc:creator>
  <cp:keywords/>
  <dc:description>generated using python-pptx</dc:description>
  <cp:lastModifiedBy>Mirha Shakeel</cp:lastModifiedBy>
  <cp:revision>1</cp:revision>
  <dcterms:created xsi:type="dcterms:W3CDTF">2013-01-27T09:14:16Z</dcterms:created>
  <dcterms:modified xsi:type="dcterms:W3CDTF">2026-10-23T14:12:27Z</dcterms:modified>
  <cp:category/>
</cp:coreProperties>
</file>