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502920"/>
            <a:ext cx="2468880" cy="2468880"/>
          </a:xfrm>
          <a:prstGeom prst="ellipse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55480" y="1828800"/>
            <a:ext cx="1783080" cy="1783080"/>
          </a:xfrm>
          <a:prstGeom prst="ellipse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92440" y="3657600"/>
            <a:ext cx="1965960" cy="1965960"/>
          </a:xfrm>
          <a:prstGeom prst="ellipse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21240" y="4251960"/>
            <a:ext cx="960120" cy="960120"/>
          </a:xfrm>
          <a:prstGeom prst="ellipse">
            <a:avLst/>
          </a:prstGeom>
          <a:solidFill>
            <a:srgbClr val="506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67665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DAB9D"/>
                </a:solidFill>
                <a:latin typeface="Aptos"/>
              </a:rPr>
              <a:t>AI-POWERED BOOKKEEPING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481328"/>
            <a:ext cx="6766560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ptos"/>
              </a:rPr>
              <a:t>HisabBot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14600"/>
            <a:ext cx="6492240" cy="9144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DCE6F4"/>
                </a:solidFill>
                <a:latin typeface="Aptos"/>
              </a:rPr>
              <a:t>Everyday accounting,
through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114800"/>
            <a:ext cx="5989320" cy="658368"/>
          </a:xfrm>
          <a:prstGeom prst="roundRect">
            <a:avLst/>
          </a:prstGeom>
          <a:solidFill>
            <a:srgbClr val="1C2D4B"/>
          </a:solidFill>
          <a:ln>
            <a:solidFill>
              <a:srgbClr val="1C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54864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PROJECT OVERVIEW • FEATURES • ARCHITECTURE •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5715000"/>
            <a:ext cx="68580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ACAE1"/>
                </a:solidFill>
                <a:latin typeface="Aptos"/>
              </a:rPr>
              <a:t>React + Express  |  Local Qwen AI  |  SQLite  |  Voice transcription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6455664"/>
            <a:ext cx="64008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9EB2D0"/>
                </a:solidFill>
                <a:latin typeface="Aptos"/>
              </a:rPr>
              <a:t>Naerdroid/HisabBot • finale-upgrades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D34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841248"/>
            <a:ext cx="10789920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657389"/>
                </a:solidFill>
                <a:latin typeface="Aptos"/>
              </a:rPr>
              <a:t>Why make bookkeeping more conversational?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685800" cy="5029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8229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57389"/>
                </a:solidFill>
                <a:latin typeface="Aptos"/>
              </a:rPr>
              <a:t>HISABBOT • FINALE-UPGRADES • BACKEND + FRONTEND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389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3429000" cy="1993392"/>
          </a:xfrm>
          <a:prstGeom prst="roundRect">
            <a:avLst/>
          </a:prstGeom>
          <a:solidFill>
            <a:srgbClr val="E8EFFD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82495"/>
            <a:ext cx="59436" cy="1773936"/>
          </a:xfrm>
          <a:prstGeom prst="rect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28216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D34"/>
                </a:solidFill>
                <a:latin typeface="Aptos"/>
              </a:rPr>
              <a:t>Daily entries take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63240" cy="79406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 dirty="0">
                <a:solidFill>
                  <a:srgbClr val="243044"/>
                </a:solidFill>
                <a:latin typeface="Aptos"/>
              </a:rPr>
              <a:t>Small businesses need to record sales and expenses throughout the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72768"/>
            <a:ext cx="3429000" cy="1993392"/>
          </a:xfrm>
          <a:prstGeom prst="roundRect">
            <a:avLst/>
          </a:prstGeom>
          <a:solidFill>
            <a:srgbClr val="E2F7F3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82495"/>
            <a:ext cx="59436" cy="1773936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728216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D34"/>
                </a:solidFill>
                <a:latin typeface="Aptos"/>
              </a:rPr>
              <a:t>Totals are hard to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63240" cy="79406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43044"/>
                </a:solidFill>
                <a:latin typeface="Aptos"/>
              </a:rPr>
              <a:t>Owners need a quick way to review income, expenses and net profit.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72768"/>
            <a:ext cx="3429000" cy="1993392"/>
          </a:xfrm>
          <a:prstGeom prst="roundRect">
            <a:avLst/>
          </a:prstGeom>
          <a:solidFill>
            <a:srgbClr val="FFF6E4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82495"/>
            <a:ext cx="59436" cy="1773936"/>
          </a:xfrm>
          <a:prstGeom prst="rect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728216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D34"/>
                </a:solidFill>
                <a:latin typeface="Aptos"/>
              </a:rPr>
              <a:t>Workflows feel cumbersome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063240" cy="54784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43044"/>
                </a:solidFill>
                <a:latin typeface="Aptos"/>
              </a:rPr>
              <a:t>Traditional forms can slow down quick, everyday transaction entry.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069080"/>
            <a:ext cx="10744200" cy="1298448"/>
          </a:xfrm>
          <a:prstGeom prst="roundRect">
            <a:avLst/>
          </a:prstGeom>
          <a:solidFill>
            <a:srgbClr val="111D34"/>
          </a:solidFill>
          <a:ln>
            <a:solidFill>
              <a:srgbClr val="11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343400"/>
            <a:ext cx="15087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DAB9D"/>
                </a:solidFill>
                <a:latin typeface="Aptos"/>
              </a:rPr>
              <a:t>OUR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355926"/>
            <a:ext cx="8412480" cy="64017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 dirty="0">
                <a:solidFill>
                  <a:srgbClr val="FFFFFF"/>
                </a:solidFill>
                <a:latin typeface="Aptos"/>
              </a:rPr>
              <a:t>Simplify recording, correcting and reviewing business transactions</a:t>
            </a:r>
            <a:r>
              <a:rPr lang="en-US" sz="19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lang="en-US" sz="1900" b="1" dirty="0">
                <a:solidFill>
                  <a:srgbClr val="FFFFFF"/>
                </a:solidFill>
                <a:latin typeface="Aptos"/>
              </a:rPr>
              <a:t> </a:t>
            </a:r>
          </a:p>
          <a:p>
            <a:pPr algn="ctr">
              <a:spcAft>
                <a:spcPts val="0"/>
              </a:spcAft>
            </a:pPr>
            <a:r>
              <a:rPr sz="1900" b="1" i="0" dirty="0">
                <a:solidFill>
                  <a:srgbClr val="FFFFFF"/>
                </a:solidFill>
                <a:latin typeface="Aptos"/>
              </a:rPr>
              <a:t>with chat, voice input and a visual dashboard.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715000"/>
            <a:ext cx="105156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 dirty="0">
                <a:solidFill>
                  <a:srgbClr val="657389"/>
                </a:solidFill>
                <a:latin typeface="Aptos"/>
              </a:rPr>
              <a:t>Reliable financial records first; helpful AI interaction second.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D34"/>
                </a:solidFill>
                <a:latin typeface="Aptos"/>
              </a:rPr>
              <a:t>Implemented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841248"/>
            <a:ext cx="10789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389"/>
                </a:solidFill>
                <a:latin typeface="Aptos"/>
              </a:rPr>
              <a:t>Feature overview based on frontend and backend source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685800" cy="5029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8229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57389"/>
                </a:solidFill>
                <a:latin typeface="Aptos"/>
              </a:rPr>
              <a:t>HISABBOT • FINALE-UPGRADES • BACKEND + FRONTEND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389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3429000" cy="1554480"/>
          </a:xfrm>
          <a:prstGeom prst="roundRect">
            <a:avLst/>
          </a:prstGeom>
          <a:solidFill>
            <a:srgbClr val="E8EFFD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19"/>
            <a:ext cx="59436" cy="1335024"/>
          </a:xfrm>
          <a:prstGeom prst="rect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91639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AI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66543"/>
            <a:ext cx="3063240" cy="9326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Natural-language requests in English, Urdu and Roman Urdu.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36192"/>
            <a:ext cx="3429000" cy="1554480"/>
          </a:xfrm>
          <a:prstGeom prst="roundRect">
            <a:avLst/>
          </a:prstGeom>
          <a:solidFill>
            <a:srgbClr val="E2F7F3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645919"/>
            <a:ext cx="59436" cy="1335024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691639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Voice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66543"/>
            <a:ext cx="3063240" cy="9326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Audio recording and local Whisper.cpp transcription.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36192"/>
            <a:ext cx="3429000" cy="1554480"/>
          </a:xfrm>
          <a:prstGeom prst="roundRect">
            <a:avLst/>
          </a:prstGeom>
          <a:solidFill>
            <a:srgbClr val="FFF6E4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645919"/>
            <a:ext cx="59436" cy="1335024"/>
          </a:xfrm>
          <a:prstGeom prst="rect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39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Transaction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66543"/>
            <a:ext cx="3063240" cy="9326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Create, view, update and delete income/expense records.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3429000" cy="1554480"/>
          </a:xfrm>
          <a:prstGeom prst="roundRect">
            <a:avLst/>
          </a:prstGeom>
          <a:solidFill>
            <a:srgbClr val="E8EFFD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493008"/>
            <a:ext cx="59436" cy="1335024"/>
          </a:xfrm>
          <a:prstGeom prst="rect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538728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13632"/>
            <a:ext cx="3063240" cy="9326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Income, expenses, net profit, today's transactions and trends.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383280"/>
            <a:ext cx="3429000" cy="1554480"/>
          </a:xfrm>
          <a:prstGeom prst="roundRect">
            <a:avLst/>
          </a:prstGeom>
          <a:solidFill>
            <a:srgbClr val="E2F7F3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493008"/>
            <a:ext cx="59436" cy="1335024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3538728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Search &amp; 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913632"/>
            <a:ext cx="3063240" cy="9326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Keyword/type/date filters, sorting and pagination.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383280"/>
            <a:ext cx="3429000" cy="1554480"/>
          </a:xfrm>
          <a:prstGeom prst="roundRect">
            <a:avLst/>
          </a:prstGeom>
          <a:solidFill>
            <a:srgbClr val="FFF6E4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3493008"/>
            <a:ext cx="59436" cy="1335024"/>
          </a:xfrm>
          <a:prstGeom prst="rect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3538728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13632"/>
            <a:ext cx="3063240" cy="9326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Date-range summaries, daily trends and item breakdowns.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486400"/>
            <a:ext cx="10607040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57389"/>
                </a:solidFill>
                <a:latin typeface="Aptos"/>
              </a:rPr>
              <a:t>Chat tools also support transaction lookup, date-range summaries, and updating/deleting a specific record by 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D34"/>
                </a:solidFill>
                <a:latin typeface="Aptos"/>
              </a:rPr>
              <a:t>Feature Spotlight: Chat +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841248"/>
            <a:ext cx="10789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389"/>
                </a:solidFill>
                <a:latin typeface="Aptos"/>
              </a:rPr>
              <a:t>Natural language is connected to real transaction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685800" cy="5029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8229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57389"/>
                </a:solidFill>
                <a:latin typeface="Aptos"/>
              </a:rPr>
              <a:t>HISABBOT • FINALE-UPGRADES • BACKEND + FRONTEND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389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773936"/>
            <a:ext cx="4754880" cy="502920"/>
          </a:xfrm>
          <a:prstGeom prst="roundRect">
            <a:avLst/>
          </a:prstGeom>
          <a:solidFill>
            <a:srgbClr val="111D34"/>
          </a:solidFill>
          <a:ln>
            <a:solidFill>
              <a:srgbClr val="11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920240"/>
            <a:ext cx="429768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HisabBot •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542032"/>
            <a:ext cx="4297680" cy="621792"/>
          </a:xfrm>
          <a:prstGeom prst="roundRect">
            <a:avLst/>
          </a:prstGeom>
          <a:solidFill>
            <a:srgbClr val="E8EFFD"/>
          </a:solidFill>
          <a:ln>
            <a:solidFill>
              <a:srgbClr val="E8EF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670048"/>
            <a:ext cx="3977639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11D34"/>
                </a:solidFill>
                <a:latin typeface="Aptos"/>
              </a:rPr>
              <a:t>“Aaj 1500 ka kapra becha”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3364992"/>
            <a:ext cx="3886200" cy="822960"/>
          </a:xfrm>
          <a:prstGeom prst="roundRect">
            <a:avLst/>
          </a:prstGeom>
          <a:solidFill>
            <a:srgbClr val="E2F7F3"/>
          </a:solidFill>
          <a:ln>
            <a:solidFill>
              <a:srgbClr val="E2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55648" y="3502152"/>
            <a:ext cx="352044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Income intent → amount + item → validated transaction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434840"/>
            <a:ext cx="4297680" cy="658368"/>
          </a:xfrm>
          <a:prstGeom prst="roundRect">
            <a:avLst/>
          </a:prstGeom>
          <a:solidFill>
            <a:srgbClr val="FFF6E4"/>
          </a:solidFill>
          <a:ln>
            <a:solidFill>
              <a:srgbClr val="FF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4562856"/>
            <a:ext cx="3931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11D34"/>
                </a:solidFill>
                <a:latin typeface="Aptos"/>
              </a:rPr>
              <a:t>“Aaj ki income kitni hai?”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94960"/>
            <a:ext cx="44805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57389"/>
                </a:solidFill>
                <a:latin typeface="Aptos"/>
              </a:rPr>
              <a:t>Illustrative chat example, not a live app screenshot.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09344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719072"/>
            <a:ext cx="59436" cy="923544"/>
          </a:xfrm>
          <a:prstGeom prst="rect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764792"/>
            <a:ext cx="477316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Context-aware follow-ups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39696"/>
            <a:ext cx="4754879" cy="52120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Recent chat context can help complete a transaction with missing details.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035808"/>
            <a:ext cx="59436" cy="923544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081528"/>
            <a:ext cx="477316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Language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56432"/>
            <a:ext cx="4754879" cy="52120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Prompt and intent logic support English, Urdu script and Roman Urdu.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242816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352544"/>
            <a:ext cx="59436" cy="923544"/>
          </a:xfrm>
          <a:prstGeom prst="rect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398264"/>
            <a:ext cx="477316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Voice recording + transcription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73168"/>
            <a:ext cx="4754879" cy="52120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Browser audio recording up to 30 seconds; local Whisper.cpp transcription.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596128"/>
            <a:ext cx="48463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57389"/>
                </a:solidFill>
                <a:latin typeface="Aptos"/>
              </a:rPr>
              <a:t>Audio language options: auto, English or Urdu.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D34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841248"/>
            <a:ext cx="10789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389"/>
                </a:solidFill>
                <a:latin typeface="Aptos"/>
              </a:rPr>
              <a:t>Interface, API, AI orchestration and persistent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685800" cy="5029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8229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57389"/>
                </a:solidFill>
                <a:latin typeface="Aptos"/>
              </a:rPr>
              <a:t>HISABBOT • FINALE-UPGRADES • BACKEND + FRONTEND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389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508760"/>
            <a:ext cx="5486400" cy="914400"/>
          </a:xfrm>
          <a:prstGeom prst="roundRect">
            <a:avLst/>
          </a:prstGeom>
          <a:solidFill>
            <a:srgbClr val="E8EFFD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37560" y="1508760"/>
            <a:ext cx="5486400" cy="64008"/>
          </a:xfrm>
          <a:prstGeom prst="rect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7288" y="1655063"/>
            <a:ext cx="5266944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Frontend — React 19 + TypeScript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02536"/>
            <a:ext cx="52120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Dashboard • Transactions • Reports • Chat •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816352"/>
            <a:ext cx="5486400" cy="1024128"/>
          </a:xfrm>
          <a:prstGeom prst="roundRect">
            <a:avLst/>
          </a:prstGeom>
          <a:solidFill>
            <a:srgbClr val="E2F7F3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2816352"/>
            <a:ext cx="5486400" cy="64008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2962656"/>
            <a:ext cx="5266944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Backend — Node.js + Express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10128"/>
            <a:ext cx="5212080" cy="4754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REST API • validation • rate limits • shared transaction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63440"/>
            <a:ext cx="4754880" cy="1051560"/>
          </a:xfrm>
          <a:prstGeom prst="roundRect">
            <a:avLst/>
          </a:prstGeom>
          <a:solidFill>
            <a:srgbClr val="FFF6E4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663440"/>
            <a:ext cx="4754880" cy="64008"/>
          </a:xfrm>
          <a:prstGeom prst="rect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809744"/>
            <a:ext cx="4535424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Local AI — LM Studio + Qwen 2.5 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57216"/>
            <a:ext cx="4480560" cy="50291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Local API • tool calling • response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663440"/>
            <a:ext cx="4754880" cy="1051560"/>
          </a:xfrm>
          <a:prstGeom prst="roundRect">
            <a:avLst/>
          </a:prstGeom>
          <a:solidFill>
            <a:srgbClr val="E8EFFD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75120" y="4663440"/>
            <a:ext cx="4754880" cy="64008"/>
          </a:xfrm>
          <a:prstGeom prst="rect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4809744"/>
            <a:ext cx="4535424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SQLite — better-sqlite3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157216"/>
            <a:ext cx="4480560" cy="50291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Transaction records • prepared statements • summaries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441448"/>
            <a:ext cx="0" cy="338328"/>
          </a:xfrm>
          <a:prstGeom prst="line">
            <a:avLst/>
          </a:prstGeom>
          <a:ln w="25400">
            <a:solidFill>
              <a:srgbClr val="377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0" y="2487168"/>
            <a:ext cx="14173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57389"/>
                </a:solidFill>
                <a:latin typeface="Aptos"/>
              </a:rPr>
              <a:t>HTTP / JSON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291840" y="3858768"/>
            <a:ext cx="1280160" cy="768096"/>
          </a:xfrm>
          <a:prstGeom prst="line">
            <a:avLst/>
          </a:prstGeom>
          <a:ln w="25400">
            <a:solidFill>
              <a:srgbClr val="1DA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43800" y="3858768"/>
            <a:ext cx="1371600" cy="768096"/>
          </a:xfrm>
          <a:prstGeom prst="line">
            <a:avLst/>
          </a:prstGeom>
          <a:ln w="25400">
            <a:solidFill>
              <a:srgbClr val="1DA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5925312"/>
            <a:ext cx="10607040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57389"/>
                </a:solidFill>
                <a:latin typeface="Aptos"/>
              </a:rPr>
              <a:t>Voice path: browser audio → /api/transcribe → local transcription service → transcript returned to chat.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D34"/>
                </a:solidFill>
                <a:latin typeface="Aptos"/>
              </a:rPr>
              <a:t>Transaction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841248"/>
            <a:ext cx="10789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389"/>
                </a:solidFill>
                <a:latin typeface="Aptos"/>
              </a:rPr>
              <a:t>Example: “I sold fabric for PKR 1,500 today.”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685800" cy="5029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8229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57389"/>
                </a:solidFill>
                <a:latin typeface="Aptos"/>
              </a:rPr>
              <a:t>HISABBOT • FINALE-UPGRADES • BACKEND + FRONTEND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389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27632"/>
            <a:ext cx="3401568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792224"/>
            <a:ext cx="475488" cy="475488"/>
          </a:xfrm>
          <a:prstGeom prst="ellipse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911095"/>
            <a:ext cx="475488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792224"/>
            <a:ext cx="24688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3017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Chat text or transcribed voice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627632"/>
            <a:ext cx="3401568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26864" y="1792224"/>
            <a:ext cx="475488" cy="475488"/>
          </a:xfrm>
          <a:prstGeom prst="ellipse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6864" y="1911095"/>
            <a:ext cx="475488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792224"/>
            <a:ext cx="24688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POST /api/chat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77440"/>
            <a:ext cx="3017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Validate message and request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627632"/>
            <a:ext cx="3401568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57616" y="1792224"/>
            <a:ext cx="475488" cy="475488"/>
          </a:xfrm>
          <a:prstGeom prst="ellipse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7616" y="1911095"/>
            <a:ext cx="475488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1792224"/>
            <a:ext cx="24688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Qwen + tool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377440"/>
            <a:ext cx="3017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Choose an approved operation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47872"/>
            <a:ext cx="3401568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96112" y="3712463"/>
            <a:ext cx="475488" cy="475488"/>
          </a:xfrm>
          <a:prstGeom prst="ellipse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831335"/>
            <a:ext cx="475488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712463"/>
            <a:ext cx="24688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Transaction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97680"/>
            <a:ext cx="3017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Validate type, amount and 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2272" y="3547872"/>
            <a:ext cx="3401568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26864" y="3712463"/>
            <a:ext cx="475488" cy="475488"/>
          </a:xfrm>
          <a:prstGeom prst="ellipse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26864" y="3831335"/>
            <a:ext cx="475488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712463"/>
            <a:ext cx="24688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297680"/>
            <a:ext cx="3017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Prepared query stores/retrieves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4" y="3547872"/>
            <a:ext cx="3401568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57616" y="3712463"/>
            <a:ext cx="475488" cy="475488"/>
          </a:xfrm>
          <a:prstGeom prst="ellipse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57616" y="3831335"/>
            <a:ext cx="475488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3712463"/>
            <a:ext cx="24688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Tool-grounded reply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297680"/>
            <a:ext cx="3017520" cy="4389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Return actual result to the 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96128"/>
            <a:ext cx="1051560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57389"/>
                </a:solidFill>
                <a:latin typeface="Aptos"/>
              </a:rPr>
              <a:t>REST routes and AI tools reuse the same transaction service, so validation and database logic stay 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D34"/>
                </a:solidFill>
                <a:latin typeface="Aptos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841248"/>
            <a:ext cx="10789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389"/>
                </a:solidFill>
                <a:latin typeface="Aptos"/>
              </a:rPr>
              <a:t>A short sequence that proves the 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685800" cy="5029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8229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57389"/>
                </a:solidFill>
                <a:latin typeface="Aptos"/>
              </a:rPr>
              <a:t>HISABBOT • FINALE-UPGRADES • BACKEND + FRONTEND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389"/>
                </a:solidFill>
                <a:latin typeface="Aptos"/>
              </a:rP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1591056"/>
            <a:ext cx="502920" cy="502920"/>
          </a:xfrm>
          <a:prstGeom prst="ellipse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700784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554480"/>
            <a:ext cx="242316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554480"/>
            <a:ext cx="70408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Show income, expenses, net profit, today's transactions and chart.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2112264"/>
            <a:ext cx="0" cy="448056"/>
          </a:xfrm>
          <a:prstGeom prst="line">
            <a:avLst/>
          </a:prstGeom>
          <a:ln w="25400">
            <a:solidFill>
              <a:srgbClr val="DD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41248" y="2615184"/>
            <a:ext cx="502920" cy="502920"/>
          </a:xfrm>
          <a:prstGeom prst="ellipse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72491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578608"/>
            <a:ext cx="242316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Chat — record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578608"/>
            <a:ext cx="70408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Type: “I sold fabric for 1500 rupees today.” Verify the saved record.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3136392"/>
            <a:ext cx="0" cy="448056"/>
          </a:xfrm>
          <a:prstGeom prst="line">
            <a:avLst/>
          </a:prstGeom>
          <a:ln w="25400">
            <a:solidFill>
              <a:srgbClr val="DD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41248" y="3639312"/>
            <a:ext cx="502920" cy="502920"/>
          </a:xfrm>
          <a:prstGeom prst="ellipse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3749040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602736"/>
            <a:ext cx="242316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Voice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602736"/>
            <a:ext cx="70408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Record a short message and show the transcription result.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4160520"/>
            <a:ext cx="0" cy="448056"/>
          </a:xfrm>
          <a:prstGeom prst="line">
            <a:avLst/>
          </a:prstGeom>
          <a:ln w="25400">
            <a:solidFill>
              <a:srgbClr val="DD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41248" y="4663440"/>
            <a:ext cx="502920" cy="502920"/>
          </a:xfrm>
          <a:prstGeom prst="ellipse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4773168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626864"/>
            <a:ext cx="242316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D34"/>
                </a:solidFill>
                <a:latin typeface="Aptos"/>
              </a:rPr>
              <a:t>Transactions +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626864"/>
            <a:ext cx="704088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Search/filter records, edit or delete a test record, then show a date-range report.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FFF6E4"/>
          </a:solidFill>
          <a:ln>
            <a:solidFill>
              <a:srgbClr val="FF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797296"/>
            <a:ext cx="1014984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11D34"/>
                </a:solidFill>
                <a:latin typeface="Aptos"/>
              </a:rPr>
              <a:t>Preflight: backend running • Qwen model loaded • frontend running • microphone checked • test data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D34"/>
                </a:solidFill>
                <a:latin typeface="Aptos"/>
              </a:rPr>
              <a:t>Security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841248"/>
            <a:ext cx="10789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389"/>
                </a:solidFill>
                <a:latin typeface="Aptos"/>
              </a:rPr>
              <a:t>Controls visible in the current source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685800" cy="5029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8229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57389"/>
                </a:solidFill>
                <a:latin typeface="Aptos"/>
              </a:rPr>
              <a:t>HISABBOT • FINALE-UPGRADES • BACKEND + FRONTEND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389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5138928" cy="1115568"/>
          </a:xfrm>
          <a:prstGeom prst="roundRect">
            <a:avLst/>
          </a:prstGeom>
          <a:solidFill>
            <a:srgbClr val="E8EFFD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618488"/>
            <a:ext cx="59436" cy="896112"/>
          </a:xfrm>
          <a:prstGeom prst="rect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64207"/>
            <a:ext cx="479145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Origin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4773168" cy="49377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CORS allows configured localhost frontend origins.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508760"/>
            <a:ext cx="5138928" cy="1115568"/>
          </a:xfrm>
          <a:prstGeom prst="roundRect">
            <a:avLst/>
          </a:prstGeom>
          <a:solidFill>
            <a:srgbClr val="E2F7F3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1618488"/>
            <a:ext cx="59436" cy="89611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64207"/>
            <a:ext cx="479145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39112"/>
            <a:ext cx="4773168" cy="49377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API 120/min default • chat 20/min • transcription 5/min.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862072"/>
            <a:ext cx="5138928" cy="1115568"/>
          </a:xfrm>
          <a:prstGeom prst="roundRect">
            <a:avLst/>
          </a:prstGeom>
          <a:solidFill>
            <a:srgbClr val="FFF6E4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8" y="2971800"/>
            <a:ext cx="59436" cy="896112"/>
          </a:xfrm>
          <a:prstGeom prst="rect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017520"/>
            <a:ext cx="479145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Payload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392424"/>
            <a:ext cx="4773168" cy="49377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JSON 16 KB • chat 2,000 chars • audio 10 MB.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862072"/>
            <a:ext cx="5138928" cy="1115568"/>
          </a:xfrm>
          <a:prstGeom prst="roundRect">
            <a:avLst/>
          </a:prstGeom>
          <a:solidFill>
            <a:srgbClr val="E8EFFD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2971800"/>
            <a:ext cx="59436" cy="896112"/>
          </a:xfrm>
          <a:prstGeom prst="rect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017520"/>
            <a:ext cx="479145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Validation + SQL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392424"/>
            <a:ext cx="4773168" cy="49377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Income/Expense enum, positive integer amount, text limits and prepared SQL.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215383"/>
            <a:ext cx="5138928" cy="1115568"/>
          </a:xfrm>
          <a:prstGeom prst="roundRect">
            <a:avLst/>
          </a:prstGeom>
          <a:solidFill>
            <a:srgbClr val="E2F7F3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8" y="4325112"/>
            <a:ext cx="59436" cy="89611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4370831"/>
            <a:ext cx="479145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AI tool allowlist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745736"/>
            <a:ext cx="4773168" cy="49377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Predefined tools only; maximum 5 tool rounds; backend owns DB access.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4215383"/>
            <a:ext cx="5138928" cy="1115568"/>
          </a:xfrm>
          <a:prstGeom prst="roundRect">
            <a:avLst/>
          </a:prstGeom>
          <a:solidFill>
            <a:srgbClr val="FFF6E4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36208" y="4325112"/>
            <a:ext cx="59436" cy="896112"/>
          </a:xfrm>
          <a:prstGeom prst="rect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4370831"/>
            <a:ext cx="479145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D34"/>
                </a:solidFill>
                <a:latin typeface="Aptos"/>
              </a:rPr>
              <a:t>Error + upload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745736"/>
            <a:ext cx="4773168" cy="49377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4"/>
                </a:solidFill>
                <a:latin typeface="Aptos"/>
              </a:rPr>
              <a:t>Generic client errors; temp audio cleanup; server binds to 127.0.0.1.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779008"/>
            <a:ext cx="1060704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434B"/>
                </a:solidFill>
                <a:latin typeface="Aptos"/>
              </a:rPr>
              <a:t>These controls are present in source; do not claim independent penetration testing unless it was performed.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11D34"/>
                </a:solidFill>
                <a:latin typeface="Aptos"/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841248"/>
            <a:ext cx="10789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57389"/>
                </a:solidFill>
                <a:latin typeface="Aptos"/>
              </a:rPr>
              <a:t>Separate current behaviour from work needed before wider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685800" cy="5029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8229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57389"/>
                </a:solidFill>
                <a:latin typeface="Aptos"/>
              </a:rPr>
              <a:t>HISABBOT • FINALE-UPGRADES • BACKEND + FRONTEND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57389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5138928" cy="3611880"/>
          </a:xfrm>
          <a:prstGeom prst="roundRect">
            <a:avLst/>
          </a:prstGeom>
          <a:solidFill>
            <a:srgbClr val="FFF6E4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682495"/>
            <a:ext cx="59436" cy="3392424"/>
          </a:xfrm>
          <a:prstGeom prst="rect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28216"/>
            <a:ext cx="479145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D34"/>
                </a:solidFill>
                <a:latin typeface="Aptos"/>
              </a:rPr>
              <a:t>Current considerations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4773168" cy="29900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• AI chat requires the local Qwen service to be running.
• Voice depends on local Whisper/FFmpeg binaries and model paths.
• Backend binds to loopback; CORS is set for local development.
• Authentication and per-user authorization are not visible in reviewed API routes.
• Chat history is stored in browser localStorage.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138928" cy="3611880"/>
          </a:xfrm>
          <a:prstGeom prst="roundRect">
            <a:avLst/>
          </a:prstGeom>
          <a:solidFill>
            <a:srgbClr val="E2F7F3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82495"/>
            <a:ext cx="59436" cy="3392424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728216"/>
            <a:ext cx="4791456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D34"/>
                </a:solidFill>
                <a:latin typeface="Aptos"/>
              </a:rPr>
              <a:t>Recommended 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4773168" cy="299008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4"/>
                </a:solidFill>
                <a:latin typeface="Aptos"/>
              </a:rPr>
              <a:t>• Add and test authentication/authorization before multi-user use.
• Make transcription dependencies configurable and document setup.
• Add automated API and security regression tests.
• Test ambiguous language inputs and financial edge cases.
• Add production deployment hardening, monitoring and backup/recovery.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57389"/>
                </a:solidFill>
                <a:latin typeface="Aptos"/>
              </a:rPr>
              <a:t>This is a source-based review, not a claim that every runtime scenario has been tested.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841248"/>
            <a:ext cx="107899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3D0E4"/>
                </a:solidFill>
                <a:latin typeface="Aptos"/>
              </a:rPr>
              <a:t>Conversational bookkeeping with a clear technical foundation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43584"/>
            <a:ext cx="685800" cy="50292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92240"/>
            <a:ext cx="822960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C3D0E4"/>
                </a:solidFill>
                <a:latin typeface="Aptos"/>
              </a:rPr>
              <a:t>HISABBOT • FINALE-UPGRADES • BACKEND + FRONTEND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3D0E4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691640"/>
            <a:ext cx="3429000" cy="1874519"/>
          </a:xfrm>
          <a:prstGeom prst="roundRect">
            <a:avLst/>
          </a:prstGeom>
          <a:solidFill>
            <a:srgbClr val="263653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" y="1801368"/>
            <a:ext cx="59436" cy="1655063"/>
          </a:xfrm>
          <a:prstGeom prst="rect">
            <a:avLst/>
          </a:prstGeom>
          <a:solidFill>
            <a:srgbClr val="1DA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47088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D34"/>
                </a:solidFill>
                <a:latin typeface="Aptos"/>
              </a:rPr>
              <a:t>Natural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221992"/>
            <a:ext cx="3063240" cy="125272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Chat and voice transcription connect everyday language to accounting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1874519"/>
          </a:xfrm>
          <a:prstGeom prst="roundRect">
            <a:avLst/>
          </a:prstGeom>
          <a:solidFill>
            <a:srgbClr val="263653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01368"/>
            <a:ext cx="59436" cy="1655063"/>
          </a:xfrm>
          <a:prstGeom prst="rect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47088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D34"/>
                </a:solidFill>
                <a:latin typeface="Aptos"/>
              </a:rPr>
              <a:t>Traceable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21992"/>
            <a:ext cx="3063240" cy="125272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React → Express → approved tools/service → SQLite → user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691640"/>
            <a:ext cx="3429000" cy="1874519"/>
          </a:xfrm>
          <a:prstGeom prst="roundRect">
            <a:avLst/>
          </a:prstGeom>
          <a:solidFill>
            <a:srgbClr val="263653"/>
          </a:solidFill>
          <a:ln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3568" y="1801368"/>
            <a:ext cx="59436" cy="1655063"/>
          </a:xfrm>
          <a:prstGeom prst="rect">
            <a:avLst/>
          </a:prstGeom>
          <a:solidFill>
            <a:srgbClr val="F2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847088"/>
            <a:ext cx="3081528" cy="3108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11D34"/>
                </a:solidFill>
                <a:latin typeface="Aptos"/>
              </a:rPr>
              <a:t>Security-aware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21992"/>
            <a:ext cx="3063240" cy="125272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Validation, prepared queries, request limits and restricted AI operations.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15968"/>
            <a:ext cx="10149840" cy="685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HisabBot makes everyday transaction recording more natural—while keeping the backend and database in control.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13248"/>
            <a:ext cx="1014984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DAB9D"/>
                </a:solidFill>
                <a:latin typeface="Aptos"/>
              </a:rPr>
              <a:t>Thank you  • 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107899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AFBED6"/>
                </a:solidFill>
                <a:latin typeface="Aptos"/>
              </a:rPr>
              <a:t>SOURCE: github.com/Naerdroid/HisabBot/tree/finale-upgrades • backend + frontend reviewed; README excluded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1073</Words>
  <Application>Microsoft Office PowerPoint</Application>
  <PresentationFormat>Widescreen</PresentationFormat>
  <Paragraphs>146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Mirha</dc:creator>
  <cp:keywords/>
  <dc:description>generated using python-pptx</dc:description>
  <cp:lastModifiedBy>Mirha Shakeel</cp:lastModifiedBy>
  <cp:revision>2</cp:revision>
  <dcterms:created xsi:type="dcterms:W3CDTF">2013-01-27T09:14:16Z</dcterms:created>
  <dcterms:modified xsi:type="dcterms:W3CDTF">2026-10-23T14:49:48Z</dcterms:modified>
  <cp:category/>
</cp:coreProperties>
</file>